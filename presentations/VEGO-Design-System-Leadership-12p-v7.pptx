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7a5640965b4e38" /><Relationship Type="http://schemas.openxmlformats.org/officeDocument/2006/relationships/extended-properties" Target="/docProps/app.xml" Id="R805e6682642d4b38" /><Relationship Type="http://schemas.openxmlformats.org/officeDocument/2006/relationships/officeDocument" Target="/ppt/presentation.xml" Id="R0dd15654c9c346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4f30d5935d4009"/>
  </p:sldMasterIdLst>
  <p:notesMasterIdLst>
    <p:notesMasterId xmlns:r="http://schemas.openxmlformats.org/officeDocument/2006/relationships" r:id="Rce3e0febe6524b3b"/>
  </p:notesMasterIdLst>
  <p:sldIdLst>
    <p:sldId xmlns:r="http://schemas.openxmlformats.org/officeDocument/2006/relationships" id="256" r:id="R60ee99e461004786"/>
    <p:sldId xmlns:r="http://schemas.openxmlformats.org/officeDocument/2006/relationships" id="257" r:id="R50fb87b518b44de7"/>
    <p:sldId xmlns:r="http://schemas.openxmlformats.org/officeDocument/2006/relationships" id="258" r:id="Rb137014f33ae4069"/>
    <p:sldId xmlns:r="http://schemas.openxmlformats.org/officeDocument/2006/relationships" id="259" r:id="Rfec84df8ebd7474c"/>
    <p:sldId xmlns:r="http://schemas.openxmlformats.org/officeDocument/2006/relationships" id="260" r:id="Re7dedac284e443e6"/>
    <p:sldId xmlns:r="http://schemas.openxmlformats.org/officeDocument/2006/relationships" id="261" r:id="Rc4ec4034def14a4b"/>
    <p:sldId xmlns:r="http://schemas.openxmlformats.org/officeDocument/2006/relationships" id="262" r:id="Rda843188116240cb"/>
    <p:sldId xmlns:r="http://schemas.openxmlformats.org/officeDocument/2006/relationships" id="263" r:id="Ref770ffc0a3e404c"/>
    <p:sldId xmlns:r="http://schemas.openxmlformats.org/officeDocument/2006/relationships" id="264" r:id="R3111f228f48e49be"/>
    <p:sldId xmlns:r="http://schemas.openxmlformats.org/officeDocument/2006/relationships" id="265" r:id="R1ccac78dfb474e55"/>
    <p:sldId xmlns:r="http://schemas.openxmlformats.org/officeDocument/2006/relationships" id="266" r:id="R785a0b91cf9349af"/>
    <p:sldId xmlns:r="http://schemas.openxmlformats.org/officeDocument/2006/relationships" id="267" r:id="R6fa21b11ab3a45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f31252bb434294" /><Relationship Type="http://schemas.openxmlformats.org/officeDocument/2006/relationships/slideMaster" Target="/ppt/slideMasters/slideMaster1.xml" Id="R824f30d5935d4009" /><Relationship Type="http://schemas.openxmlformats.org/officeDocument/2006/relationships/notesMaster" Target="/ppt/notesMasters/notesMaster1.xml" Id="Rce3e0febe6524b3b" /><Relationship Type="http://schemas.openxmlformats.org/officeDocument/2006/relationships/presProps" Target="/ppt/presProps.xml" Id="Rd9b04d5a9c6a4996" /><Relationship Type="http://schemas.openxmlformats.org/officeDocument/2006/relationships/viewProps" Target="/ppt/viewProps.xml" Id="R1a4e33c76e4e49c5" /><Relationship Type="http://schemas.openxmlformats.org/officeDocument/2006/relationships/tableStyles" Target="/ppt/tableStyles.xml" Id="R5a4ebcb41bb44dd0" /><Relationship Type="http://schemas.openxmlformats.org/officeDocument/2006/relationships/slide" Target="/ppt/slides/slide1.xml" Id="R60ee99e461004786" /><Relationship Type="http://schemas.openxmlformats.org/officeDocument/2006/relationships/slide" Target="/ppt/slides/slide2.xml" Id="R50fb87b518b44de7" /><Relationship Type="http://schemas.openxmlformats.org/officeDocument/2006/relationships/slide" Target="/ppt/slides/slide3.xml" Id="Rb137014f33ae4069" /><Relationship Type="http://schemas.openxmlformats.org/officeDocument/2006/relationships/slide" Target="/ppt/slides/slide4.xml" Id="Rfec84df8ebd7474c" /><Relationship Type="http://schemas.openxmlformats.org/officeDocument/2006/relationships/slide" Target="/ppt/slides/slide5.xml" Id="Re7dedac284e443e6" /><Relationship Type="http://schemas.openxmlformats.org/officeDocument/2006/relationships/slide" Target="/ppt/slides/slide6.xml" Id="Rc4ec4034def14a4b" /><Relationship Type="http://schemas.openxmlformats.org/officeDocument/2006/relationships/slide" Target="/ppt/slides/slide7.xml" Id="Rda843188116240cb" /><Relationship Type="http://schemas.openxmlformats.org/officeDocument/2006/relationships/slide" Target="/ppt/slides/slide8.xml" Id="Ref770ffc0a3e404c" /><Relationship Type="http://schemas.openxmlformats.org/officeDocument/2006/relationships/slide" Target="/ppt/slides/slide9.xml" Id="R3111f228f48e49be" /><Relationship Type="http://schemas.openxmlformats.org/officeDocument/2006/relationships/slide" Target="/ppt/slides/slide10.xml" Id="R1ccac78dfb474e55" /><Relationship Type="http://schemas.openxmlformats.org/officeDocument/2006/relationships/slide" Target="/ppt/slides/slide11.xml" Id="R785a0b91cf9349af" /><Relationship Type="http://schemas.openxmlformats.org/officeDocument/2006/relationships/slide" Target="/ppt/slides/slide12.xml" Id="R6fa21b11ab3a45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9d3483ffb2e46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762b3e21584aae" /><Relationship Type="http://schemas.openxmlformats.org/officeDocument/2006/relationships/notesMaster" Target="/ppt/notesMasters/notesMaster1.xml" Id="R9e51a15a124f48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2767a74c0843eb" /><Relationship Type="http://schemas.openxmlformats.org/officeDocument/2006/relationships/notesMaster" Target="/ppt/notesMasters/notesMaster1.xml" Id="Radce8f41118247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47f59e731d4681" /><Relationship Type="http://schemas.openxmlformats.org/officeDocument/2006/relationships/notesMaster" Target="/ppt/notesMasters/notesMaster1.xml" Id="R2df905c0b06f46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657a60c95d4284" /><Relationship Type="http://schemas.openxmlformats.org/officeDocument/2006/relationships/notesMaster" Target="/ppt/notesMasters/notesMaster1.xml" Id="Rbdc08b54127043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92e065d0fd46a0" /><Relationship Type="http://schemas.openxmlformats.org/officeDocument/2006/relationships/notesMaster" Target="/ppt/notesMasters/notesMaster1.xml" Id="R1dfeaea53b794f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c8dfd77d9f4850" /><Relationship Type="http://schemas.openxmlformats.org/officeDocument/2006/relationships/notesMaster" Target="/ppt/notesMasters/notesMaster1.xml" Id="Rf496dbbf055042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d64dd71d374d9c" /><Relationship Type="http://schemas.openxmlformats.org/officeDocument/2006/relationships/notesMaster" Target="/ppt/notesMasters/notesMaster1.xml" Id="Rca408e4ff4044f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3761f6224d41f2" /><Relationship Type="http://schemas.openxmlformats.org/officeDocument/2006/relationships/notesMaster" Target="/ppt/notesMasters/notesMaster1.xml" Id="R1b63240cd1c44f4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79c78c890d43a0" /><Relationship Type="http://schemas.openxmlformats.org/officeDocument/2006/relationships/notesMaster" Target="/ppt/notesMasters/notesMaster1.xml" Id="R7b52f3e663264d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9483c599314678" /><Relationship Type="http://schemas.openxmlformats.org/officeDocument/2006/relationships/notesMaster" Target="/ppt/notesMasters/notesMaster1.xml" Id="Ra5523768e2734d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4acbf8e68c477a" /><Relationship Type="http://schemas.openxmlformats.org/officeDocument/2006/relationships/notesMaster" Target="/ppt/notesMasters/notesMaster1.xml" Id="R13441f58b20541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a06ea558d24a61" /><Relationship Type="http://schemas.openxmlformats.org/officeDocument/2006/relationships/notesMaster" Target="/ppt/notesMasters/notesMaster1.xml" Id="R2aed5834106b45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d3dec495064b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07d017e6f24825" /><Relationship Type="http://schemas.openxmlformats.org/officeDocument/2006/relationships/slideLayout" Target="/ppt/slideLayouts/slideLayout1.xml" Id="R169be703c68640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9be703c68640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7555d4d8ff46d9" /><Relationship Type="http://schemas.openxmlformats.org/officeDocument/2006/relationships/notesSlide" Target="/ppt/notesSlides/notesSlide1.xml" Id="Rc810c966892348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699ee353e140f0" /><Relationship Type="http://schemas.openxmlformats.org/officeDocument/2006/relationships/notesSlide" Target="/ppt/notesSlides/notesSlide2.xml" Id="R65ecfa95681043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78286a3674153" /><Relationship Type="http://schemas.openxmlformats.org/officeDocument/2006/relationships/notesSlide" Target="/ppt/notesSlides/notesSlide3.xml" Id="R2aaca80a71d847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61d532db3442c" /><Relationship Type="http://schemas.openxmlformats.org/officeDocument/2006/relationships/notesSlide" Target="/ppt/notesSlides/notesSlide4.xml" Id="R51c61b7e102a40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285fac83243bd" /><Relationship Type="http://schemas.openxmlformats.org/officeDocument/2006/relationships/notesSlide" Target="/ppt/notesSlides/notesSlide5.xml" Id="R7f7815f074a04d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25bc6e94e14f5e" /><Relationship Type="http://schemas.openxmlformats.org/officeDocument/2006/relationships/notesSlide" Target="/ppt/notesSlides/notesSlide6.xml" Id="R731a8a0daa9648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2a9cae2394611" /><Relationship Type="http://schemas.openxmlformats.org/officeDocument/2006/relationships/notesSlide" Target="/ppt/notesSlides/notesSlide7.xml" Id="R3b46222db08c42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ef4e08b184f90" /><Relationship Type="http://schemas.openxmlformats.org/officeDocument/2006/relationships/notesSlide" Target="/ppt/notesSlides/notesSlide8.xml" Id="Rc6d0d6fcac8941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fb0b4eefd34403" /><Relationship Type="http://schemas.openxmlformats.org/officeDocument/2006/relationships/notesSlide" Target="/ppt/notesSlides/notesSlide9.xml" Id="R314c8b47f1c849e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49c279db449f0" /><Relationship Type="http://schemas.openxmlformats.org/officeDocument/2006/relationships/notesSlide" Target="/ppt/notesSlides/notesSlide10.xml" Id="R82cb9704ba0440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5969ac64064e84" /><Relationship Type="http://schemas.openxmlformats.org/officeDocument/2006/relationships/notesSlide" Target="/ppt/notesSlides/notesSlide11.xml" Id="R5aa8bc2ee7d845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659fcad3654686" /><Relationship Type="http://schemas.openxmlformats.org/officeDocument/2006/relationships/notesSlide" Target="/ppt/notesSlides/notesSlide12.xml" Id="R8f2907f4191b463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760496-CD77-49F1-A169-2F10C642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DDAD0-4605-4208-8711-82E6FFD4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F6C67-6916-485D-9957-B29EA9CD9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VEGO DESIGN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14741-0F56-41DA-B69A-198496BA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7620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从品牌识别到 Shopify 落地的执行桥梁</a:t>
            </a:r>
          </a:p>
          <a:p xmlns:a="http://schemas.openxmlformats.org/drawingml/2006/main">
            <a:pPr algn="l">
              <a:defRPr sz="30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The execution bridge from brand language to Shopify delivery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0BC0E-98F1-4349-BF7F-5794D00F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主线：不是“做一套漂亮组件”，而是把品牌、导购、交易和运营配置翻译成同一套 Figma + GitHub + Shopify + Notion 执行系统。</a:t>
            </a:r>
          </a:p>
          <a:p xmlns:a="http://schemas.openxmlformats.org/drawingml/2006/main">
            <a:pPr algn="l">
              <a:defRPr sz="112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Storyline: not a pretty component library, but one execution system across Figma, GitHub, Shopify, commerce, guidance, and governance.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3A28A-D3A1-47F6-966A-4446918E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066800"/>
            <a:ext cx="285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0ECEC-6310-401D-AD19-B79778CB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4287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CE6331-02AF-4AAF-9353-F3A0E9C3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859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top-level DS frames</a:t>
            </a:r>
          </a:p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顶层 DS 页面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186B3-96BF-403E-B913-FA492506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4D5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4D5D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74623-958A-49B7-A1A4-942792C9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337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Component sets</a:t>
            </a:r>
          </a:p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组件集合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407CC6-3D00-447B-946E-9C559308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242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A9502E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A9502E"/>
                </a:solidFill>
                <a:latin typeface="Aptos Display"/>
                <a:ea typeface="Aptos Display"/>
                <a:cs typeface="Aptos Display"/>
              </a:rPr>
              <a:t>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F7E41-6CBA-4EAB-89C3-C34E49912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814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Component variants/components</a:t>
            </a:r>
          </a:p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组件变体/组件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BE159-683C-4E7F-8B83-671C4FC5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816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2F66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98664A-29B0-4E80-BC5A-5F355663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48325"/>
            <a:ext cx="914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ask: approve source split: Figma design + GitHub code + Notion governance + Shopify preview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74DFE5-A571-4BDB-A5E4-369B52C5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C818E5-F660-426B-B790-303821D9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Design System | Figma + Shopify Execution Storyline | 2026-06-13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DD8C6-C759-40BF-A1C1-1B5C1044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6714894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2382B8-1EB1-4DDC-AD66-E1286A29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098CCA-0917-4F2C-A1AE-56593026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77929-AC87-4DB7-A7EC-9DAA7FE87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TABLE OF CONTENTS / 目录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B1A01-6FC2-4A56-BF37-2D3DDBFA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71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这份 DS 不是组件清单，而是一套从 Figma 到 Shopify 的协作流程</a:t>
            </a:r>
          </a:p>
          <a:p xmlns:a="http://schemas.openxmlformats.org/drawingml/2006/main">
            <a:pPr algn="l">
              <a:defRPr sz="19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This DS is not a component inventory; it is an operating workflow from Figma to Shopify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2034A-AD06-4AC5-852D-5F5F61A5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主线：先统一业务分层和设计语言，再把 Figma 组件库、GitHub 工程代码、Shopify theme 和 Notion 治理连接成一个可迭代系统。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4FB0F8-10D7-4EBC-AC27-D7BF5C89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B578F-D67A-4E94-B006-A0D934D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BA74CB-719C-471D-9909-26B91170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66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Why + model / 为什么与业务模型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0B0F60-FAC4-4AC5-B01A-692B8B1F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886075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Why Now、Operating Model：先说明为什么不是重做官网，而是统一业务和工程边界。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F452FC-DFBA-40BD-B346-87A4B242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4320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87A67"/>
                </a:solidFill>
                <a:latin typeface="Aptos"/>
                <a:ea typeface="Aptos"/>
                <a:cs typeface="Aptos"/>
              </a:rPr>
              <a:t>p.03-04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16143-2DDB-43FD-91D2-92EB0EC9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9FA718-987C-4010-B4A5-C83BF82C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3177B-0C62-4066-B628-55ED74F8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4480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Figma DS + Token / 设计系统基础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DC5AC0-F6EA-4363-AD46-85E3FAA5B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67125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Snapshot、Foundations、Design Token：讲清楚 DS 不只是组件库。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B15BF1-62C7-4CDF-BA54-66B8262C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5242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87A67"/>
                </a:solidFill>
                <a:latin typeface="Aptos"/>
                <a:ea typeface="Aptos"/>
                <a:cs typeface="Aptos"/>
              </a:rPr>
              <a:t>p.05-07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B96E5-C82A-4EA9-BAED-1B6316C5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3385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0766E0-41FB-4A10-9B9C-5EA3BB40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5767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469FF-04AF-4B54-AF3D-524ADEF9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2291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Engineering to Shopify / 工程到 Shopify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9579B3-A561-4322-9703-DBBFF992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48175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Token Bridge、GitHub Source、Shopify Basics、Shopify Rollout：说明怎么落地。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D972FF-E7F5-486E-BC19-5B9F28EF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430530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87A67"/>
                </a:solidFill>
                <a:latin typeface="Aptos"/>
                <a:ea typeface="Aptos"/>
                <a:cs typeface="Aptos"/>
              </a:rPr>
              <a:t>p.08-11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98A159-9A48-4C0C-9C91-7E6EDC46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1066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8F7E1D-2BE8-4F0C-A727-2B1B633F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38725"/>
            <a:ext cx="495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3D1C291-7EA4-4B6E-9E3F-36B7B09C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1015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4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Operating mechanism / 后续推进机制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915FC-8977-4D6F-8A50-17C94C40C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229225"/>
            <a:ext cx="6858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28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28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团队如何使用组件库、如何提交变更、如何同步版本并在 preview theme 验证。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0A41CA-041F-43C9-80AF-A401B90E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0863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687A67"/>
                </a:solidFill>
                <a:latin typeface="Aptos"/>
                <a:ea typeface="Aptos"/>
                <a:cs typeface="Aptos"/>
              </a:rPr>
              <a:t>p.12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0698A5-D763-4390-9EAF-005F966E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038850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164D5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2F826A-893A-4812-BE6C-9415B385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096000"/>
            <a:ext cx="86487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Storyline / 汇报顺序：先讲明问题和工程路径，再说明团队如何使用和持续迭代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9A4E16-59D8-41C0-9CB6-DD5E5B3C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8FEC69-C0EC-48E8-8370-B91CA15C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Design System | Figma + Shopify Execution Storyline | 2026-06-13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88677-8B53-4EEF-9749-9746A56F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47392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256576-8620-480B-A891-D3D8FDF2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764FF3-5B37-43BC-BAF4-1264B075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91289-6E53-41D2-A889-3C8D2F90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6C7B7B-C97E-4C21-95B5-4D1CEB45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VEGO 已有品牌资产，缺的是把选择、交易和运营统一起来</a:t>
            </a:r>
          </a:p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VEGO has brand assets; the gap is operational consistency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C8CFF-EAE2-4D0E-8E43-161D8AB6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当前官网不应该被直接推翻重做，应该把已经有效的品牌结构系统化，并把交易与导购规则固化。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9F1E17-6C6D-41BA-808F-67DBAA0F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105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F3EF15-BE96-4547-B2EE-5FFF3A0F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Brand is recognizable</a:t>
            </a:r>
          </a:p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品牌有识别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28E8E-189A-4F7F-A52C-E4BE8BC1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2F66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AC770-F186-47E7-AF9F-F306D32E3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Logo, garden tone, warm surfaces, campaign hero already create memory.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46F45-CAF0-491B-A343-303E4D71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00300"/>
            <a:ext cx="3105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2E3FAC-4B5D-477E-A9E7-01EE0007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50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A9502E"/>
                </a:solidFill>
                <a:latin typeface="Aptos Display"/>
                <a:ea typeface="Aptos Display"/>
                <a:cs typeface="Aptos Display"/>
              </a:rPr>
              <a:t>Choice is fragmented</a:t>
            </a:r>
          </a:p>
          <a:p xmlns:a="http://schemas.openxmlformats.org/drawingml/2006/main">
            <a:pPr algn="l">
              <a:defRPr sz="1350" b="1">
                <a:solidFill>
                  <a:srgbClr val="A9502E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A9502E"/>
                </a:solidFill>
                <a:latin typeface="Aptos Display"/>
                <a:ea typeface="Aptos Display"/>
                <a:cs typeface="Aptos Display"/>
              </a:rPr>
              <a:t>选择逻辑分散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AADE1A-8408-40CE-AB73-FC094D4B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86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502E"/>
          </a:solidFill>
          <a:ln xmlns:a="http://schemas.openxmlformats.org/drawingml/2006/main" w="0">
            <a:solidFill>
              <a:srgbClr val="A9502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2E9E19-46A2-4E64-97D0-D42B20935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290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Product, fit, scenario, promo and price signals are not always separated by role.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308BFE-68BE-4F30-8E68-0A7112A3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31051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A4B30-389F-40C4-BE6C-C3683EDE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247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Shopify needs an implementation contract</a:t>
            </a:r>
          </a:p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工程需要实现约定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B5959-20A0-4D67-B665-3D85C694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861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2F66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C640A7-511B-4927-B4C3-D9BE4603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29000"/>
            <a:ext cx="2400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Theme settings, snippets and CSS variables need explicit ownership boundaries.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D23A7-5A57-470C-A319-230753AE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核心判断 / Core judgment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BB31BD-D73A-466C-8ADA-B2AF4747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81625"/>
            <a:ext cx="8001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先系统化成功模式，再逐步修正不一致；不要用 DS 名义做一次高风险整站改版。</a:t>
            </a:r>
          </a:p>
          <a:p xmlns:a="http://schemas.openxmlformats.org/drawingml/2006/main">
            <a:pPr algn="l">
              <a:defRPr sz="84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Systematize what works first, then correct inconsistencies progressively; do not turn DS into a high-risk full-site redesign.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B40E04-23B1-47BD-AC2D-C8A6547B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06A7DE-59F8-4EC6-BEF3-031AB510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Design System | Figma + Shopify Execution Storyline | 2026-06-13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69774-8860-4FF2-A815-13B91BC7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8591310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D7AE37-7B0B-4F7C-87DA-0979CEA27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50E1D-A454-4AE2-B658-F1C4889C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4F9D0-5104-4E98-B18B-2E6FF5E7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20A22-ECE4-419F-AAB2-1234E056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一条主线：先判断业务角色，再选择 token、组件和 Shopify 边界</a:t>
            </a:r>
          </a:p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One model: role first, then token, component, and Shopify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B8236-F744-42C4-9327-F872A73E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品牌层、导购层、交易层不是设计术语，而是决定页面优先级和开发边界的运营模型。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99D8B-24EC-44B3-ABFA-23A4E24E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1A51C-87E8-4D01-8036-D6F09F74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60BDE-C7C2-4472-B8CB-56650440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Brand</a:t>
            </a:r>
          </a:p>
          <a:p xmlns:a="http://schemas.openxmlformats.org/drawingml/2006/main">
            <a:pPr algn="ctr">
              <a:def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品牌层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523AD-3C8A-464F-9431-115A9F2F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建立识别、信任、氛围</a:t>
            </a:r>
          </a:p>
          <a:p xmlns:a="http://schemas.openxmlformats.org/drawingml/2006/main">
            <a:pPr algn="ctr">
              <a:defRPr sz="86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Recognition, trust, mood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10275-0CA1-427C-BAF3-0232948C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71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87A6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0D20C0-DB15-4141-9F68-CB07AA34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4125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0D95C-F015-4EB7-AB42-40D99171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24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9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130803-06FA-4912-A0C6-C378C58C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813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Guidance</a:t>
            </a:r>
          </a:p>
          <a:p xmlns:a="http://schemas.openxmlformats.org/drawingml/2006/main">
            <a:pPr algn="ctr">
              <a:def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导购层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4480BD-4302-4FA7-AABC-438B9940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解释选择、降低犹豫</a:t>
            </a:r>
          </a:p>
          <a:p xmlns:a="http://schemas.openxmlformats.org/drawingml/2006/main">
            <a:pPr algn="ctr">
              <a:defRPr sz="86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Choice help, fit explanation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ADE4B-09A1-4AC7-9B5A-E3AE9DF5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71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87A6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C5F6B1-6BDB-454B-B475-8C2B9F91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24125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F77478-3255-4B69-A472-D123BA87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24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02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3AA2FC-64E8-448C-B9D5-BC65B6766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Commerce</a:t>
            </a:r>
          </a:p>
          <a:p xmlns:a="http://schemas.openxmlformats.org/drawingml/2006/main">
            <a:pPr algn="ctr">
              <a:def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交易层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C6DF0-0ED3-49D4-B4CC-FEF64EFBD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290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价格、CTA、库存、加购</a:t>
            </a:r>
          </a:p>
          <a:p xmlns:a="http://schemas.openxmlformats.org/drawingml/2006/main">
            <a:pPr algn="ctr">
              <a:defRPr sz="86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Price, CTA, availability, cart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72B73D-86D7-4B15-B0BA-DA1DD576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7182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687A67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6184C9-038D-4C8A-B8CF-76C2E8B6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24125"/>
            <a:ext cx="2286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341F9-70C9-4A39-AF2A-079DE161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24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D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5B07B3-FBBB-4F5B-85B6-E368A51B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Ops</a:t>
            </a:r>
          </a:p>
          <a:p xmlns:a="http://schemas.openxmlformats.org/drawingml/2006/main">
            <a:pPr algn="ctr">
              <a:def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运营配置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44EC26-18C7-49CE-887C-99D98B08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429000"/>
            <a:ext cx="190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只改内容/媒体/白名单促销</a:t>
            </a:r>
          </a:p>
          <a:p xmlns:a="http://schemas.openxmlformats.org/drawingml/2006/main">
            <a:pPr algn="ctr">
              <a:defRPr sz="86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Configure content, media, whitelisted promo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35BB8E-CD5A-4C58-8BA7-AFBE8A3E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53000"/>
            <a:ext cx="9601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164D5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4E2316-9AA9-416C-A233-70465B6C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76825"/>
            <a:ext cx="922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Guardrail / 护栏：运营可以换文案、图片、链接；不能改变主 CTA 主权、价格语义、导购层边界和核心层级。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59FAB-6C94-4EDB-B93F-750DB889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7CAFAD-B093-443D-A31B-7E9567FF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Design System | Figma + Shopify Execution Storyline | 2026-06-13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FF5030-3FD7-4A5A-BAD7-46C51656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634319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A2D305-CA13-46CF-882C-69579BC2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5D9F1-10D1-40C3-8770-49AB3166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8EAAB5-D682-4317-AD2D-40F2887F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FIGMA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D518E0-D6F1-4C34-A6E8-352D3EF2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最新 Figma DS 已经从工作流堆叠，整理成可使用目录</a:t>
            </a:r>
          </a:p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The latest Figma DS is organized as a usable library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1486E6-9256-40B8-AF8C-A0673197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结构已按 Foundations → Engineering → Components → Patterns → Governance 排序，方便设计、开发、运营按同一入口查找。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AC1028-186F-4F81-8450-6138F119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58910-09DA-456D-BE98-EAF70747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0683D-A35A-4125-92A3-F46C9629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top-level frames</a:t>
            </a:r>
          </a:p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顶层框架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7A1D7-0DE7-469C-9F71-7BA309C4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812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246ED-E91B-4C3E-A0FF-4A59E67A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552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4D5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4D5D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33893-1296-4FC2-B7E5-CCCC30CD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009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color variables</a:t>
            </a:r>
          </a:p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颜色变量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0FA706-A110-460F-9BCF-0D429A98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812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961FFC-026B-4F36-B1BE-6535B8D1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55270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ED5D3-0FC1-4FD8-9D36-919872E9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0990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size variables</a:t>
            </a:r>
          </a:p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尺寸变量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373C0-0332-4C56-97E4-73FE9B87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56DA7B-B421-44DF-8E87-9A5F9044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4D5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4D5D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53361A-6139-4D7C-942D-1EB1D19B8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386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text styles</a:t>
            </a:r>
          </a:p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文字样式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3FD85-E9D3-4388-A572-83E4794B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8100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3317FD-1C3E-4956-8BC2-BA90F122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81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2F663B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6EE248-AFCC-4AA0-93EA-C79B7DC7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386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component sets</a:t>
            </a:r>
          </a:p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组件集合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E732B7-CC23-48E2-AAF6-BA558BBF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1000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FB1B4A-7E3D-438A-BD7E-1EB38C98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64D5D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4D5D"/>
                </a:solidFill>
                <a:latin typeface="Aptos Display"/>
                <a:ea typeface="Aptos Display"/>
                <a:cs typeface="Aptos Display"/>
              </a:rPr>
              <a:t>68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1EE6B8-9F07-4B18-BFD9-C7084659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386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variants/components</a:t>
            </a:r>
          </a:p>
          <a:p xmlns:a="http://schemas.openxmlformats.org/drawingml/2006/main">
            <a:pPr algn="ctr">
              <a:defRPr sz="75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变体/组件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86037B-45A4-416D-8878-1C080DC4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3149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DCADA-ABEF-4AC9-8AA6-C9B3B632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42925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Current caveat / 当前注意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105EC0-7A4F-40E3-B200-E3358B5A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102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2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Type values are documented as Moret/Manrope; Figma text styles still render with available fallback fonts in this environment.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9435C5-F89C-490E-84F9-95E73413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8D1558-FC53-409E-92EE-9630936A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Design System | Figma + Shopify Execution Storyline | 2026-06-13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3E4C86-ABC6-4F95-BB77-F80C522B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0578993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C73402-7D65-4FD6-B46F-FB5781B6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07188-ECDE-4D57-9CB8-8B18A497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7D7A5-DBD0-45B7-861A-BDFE6F05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FOUNDATIONS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292E2-8B43-48B4-B318-3F0E95ED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Foundation 是共用语言，不是视觉样式清单</a:t>
            </a:r>
          </a:p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Foundations are the shared language, not a style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7405AE-8B40-4542-8EDA-D0A966F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每一类 foundation 都必须回答：Figma 怎么选，Shopify 怎么接，运营哪里不能改。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CF7003-E58A-466C-BA02-8B8262F45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FBC95C-3F2E-4469-946A-DF5CAD5C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Color</a:t>
            </a:r>
          </a:p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颜色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80794-4838-425D-B000-987B350C9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5527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role-based semantic tokens</a:t>
            </a:r>
          </a:p>
          <a:p xmlns:a="http://schemas.openxmlformats.org/drawingml/2006/main">
            <a:pPr algn="l">
              <a:defRPr sz="71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品牌/导购/交易/促销分层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7CB8A-B483-4179-99FD-63E94CA0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6220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692878-23DA-4A08-B863-DF584CBA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336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Typography</a:t>
            </a:r>
          </a:p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字体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43495-F1AD-4D72-8FB0-A98E1CF1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527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Moret display + Manrope functional UI</a:t>
            </a:r>
          </a:p>
          <a:p xmlns:a="http://schemas.openxmlformats.org/drawingml/2006/main">
            <a:pPr algn="l">
              <a:defRPr sz="71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品牌展示与功能文字分离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C6428-63EB-431E-8A6E-A1B9504E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6220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578C53-DDEF-4B1B-BF8E-B8F58BA0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336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Spacing + Radius</a:t>
            </a:r>
          </a:p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间距圆角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F0FDC9-7620-4E4C-B75C-4785B328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8px rhythm, controlled corners</a:t>
            </a:r>
          </a:p>
          <a:p xmlns:a="http://schemas.openxmlformats.org/drawingml/2006/main">
            <a:pPr algn="l">
              <a:defRPr sz="71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避免组件随意变形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12706-3B4B-4E90-B93F-FE4DCC47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DFEF9-8809-4202-83FB-958A8A73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Effects + Motion</a:t>
            </a:r>
          </a:p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效果动效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B6977C-AA46-4975-993F-CCF2AF23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624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role-based shadow, gradient, motion</a:t>
            </a:r>
          </a:p>
          <a:p xmlns:a="http://schemas.openxmlformats.org/drawingml/2006/main">
            <a:pPr algn="l">
              <a:defRPr sz="71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不用装饰制造层级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37C011-86FD-4828-8BC3-025746D5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7190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731C3-995F-4E3A-8E2F-201F7C90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433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Image System</a:t>
            </a:r>
          </a:p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图片系统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F683A-CF71-4181-8212-7A6460984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624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ratios, crop, fit, placeholder</a:t>
            </a:r>
          </a:p>
          <a:p xmlns:a="http://schemas.openxmlformats.org/drawingml/2006/main">
            <a:pPr algn="l">
              <a:defRPr sz="71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素材归 CMS，规则归 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ED053E-6291-456D-A3BB-AD7D05E8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71900"/>
            <a:ext cx="3028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E31CCC-CA47-4FED-900A-983C1D466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43350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Icon System</a:t>
            </a:r>
          </a:p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图标系统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F9D7BE-DD65-4E15-85DB-5E60865B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624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source, size, stroke, usage</a:t>
            </a:r>
          </a:p>
          <a:p xmlns:a="http://schemas.openxmlformats.org/drawingml/2006/main">
            <a:pPr algn="l">
              <a:defRPr sz="713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图标来源和使用边界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1207B4-ED9C-4449-9634-6A42CB42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Missing if not explicit / 如果没有写清楚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EBC23B-781B-4010-B27A-BFFECFFC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572125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设计师会自由发挥，开发会硬编码，运营会在 Shopify 后台打开太多不可控开关。</a:t>
            </a:r>
          </a:p>
          <a:p xmlns:a="http://schemas.openxmlformats.org/drawingml/2006/main">
            <a:pPr algn="l">
              <a:defRPr sz="79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Design improvises, development hardcodes, and ops exposes too many uncontrolled theme settings.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A2424-0041-499D-92C5-1E65743B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319AD4-3515-426C-B141-34EA4506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Design System | Figma + Shopify Execution Storyline | 2026-06-13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CB275B8-B223-476D-A37B-BB32847A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1247475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246401-3E48-4ECD-81B9-32A04497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FCE6F-0400-4351-9CFB-6B288E1C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8D299-224D-4232-9B71-18270F1F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DESIGN TOKEN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4989A7-B682-47B5-A60B-9B065016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Design token 不是 class，而是设计决策的工程变量</a:t>
            </a:r>
          </a:p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A design token is not a class; it is an engineering variable for a design decision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DB432-1923-4C7A-9040-55674848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组件库解决“设计师怎么调用”；token 解决“Figma、GitHub 和 Shopify 如何用同一个值和同一个语义”。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371BA-5A05-4006-8342-985781C3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431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9D1B2-2348-493B-88ED-F6B9C3FA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1. Meaning / 语义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604D54-6AA0-48F5-87BB-A060BC90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724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Token 给一个设计决策命名，而不是只记录一个颜色值。</a:t>
            </a:r>
          </a:p>
          <a:p xmlns:a="http://schemas.openxmlformats.org/drawingml/2006/main">
            <a:pPr algn="l">
              <a:defRPr sz="76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Example: color/commerce/cta means primary purchase action, not just #FFD976.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16B585-1049-45F9-940B-227FD6E5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431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7FD7D-0492-478A-BEFC-33FBDF12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527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2. Value / 取值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B3A1D-62E2-464E-9E83-DDDDEC36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71800"/>
            <a:ext cx="2724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Token 再映射到真实值：颜色、字体、字号、间距、圆角、阴影、渐变、动效。</a:t>
            </a:r>
          </a:p>
          <a:p xmlns:a="http://schemas.openxmlformats.org/drawingml/2006/main">
            <a:pPr algn="l">
              <a:defRPr sz="76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Example: color/commerce/cta = #FFD976.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577BB1-7218-4321-93C7-005048396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431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0AF2E-2664-4E1A-B768-11D56ACE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552700"/>
            <a:ext cx="272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3. Execution / 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98B769-E849-4E89-A5B8-363CA2FC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71800"/>
            <a:ext cx="2724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工程把 token 输出成 CSS variables，并由 Liquid/snippets/sections 调用。</a:t>
            </a:r>
          </a:p>
          <a:p xmlns:a="http://schemas.openxmlformats.org/drawingml/2006/main">
            <a:pPr algn="l">
              <a:defRPr sz="76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Example: --vego-color-commerce-cta.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A97BD9-CF00-4312-B33A-429AF96D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164D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FDD3DB-9EB7-4F8A-AB62-910A5167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006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D9E88B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D9E88B"/>
                </a:solidFill>
                <a:latin typeface="Aptos"/>
                <a:ea typeface="Aptos"/>
                <a:cs typeface="Aptos"/>
              </a:rPr>
              <a:t>Figma variable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A5F03-ECC2-45EF-8BC7-22FCF13F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911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color/commerce/cta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28ADD4-9F5E-4E7B-AE29-47A8D259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53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970"/>
          </a:solidFill>
          <a:ln xmlns:a="http://schemas.openxmlformats.org/drawingml/2006/main" w="0">
            <a:solidFill>
              <a:srgbClr val="8AA9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E053A1-F745-4B4C-856A-416A58E9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8630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164D5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03270-2DFD-40E8-A21F-195289D5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8006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D9E88B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D9E88B"/>
                </a:solidFill>
                <a:latin typeface="Aptos"/>
                <a:ea typeface="Aptos"/>
                <a:cs typeface="Aptos"/>
              </a:rPr>
              <a:t>Token source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0CAD0-A00C-4BF3-ACCB-0D5E74C6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9911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tokens.json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FF3F3E-281C-4BB6-84D2-6433FE1D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53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970"/>
          </a:solidFill>
          <a:ln xmlns:a="http://schemas.openxmlformats.org/drawingml/2006/main" w="0">
            <a:solidFill>
              <a:srgbClr val="8AA97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8C919E-1823-4AA2-8CDA-C5A5D216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8630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164D5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89EF16-E19F-4702-88A3-ACC663FA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006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D9E88B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D9E88B"/>
                </a:solidFill>
                <a:latin typeface="Aptos"/>
                <a:ea typeface="Aptos"/>
                <a:cs typeface="Aptos"/>
              </a:rPr>
              <a:t>CSS variable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97683F-27B7-4E8C-A6CD-E22EBB1F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911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--vego-color-commerce-cta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88F128-1728-4A56-829F-F41ABAE5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53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A970"/>
          </a:solidFill>
          <a:ln xmlns:a="http://schemas.openxmlformats.org/drawingml/2006/main" w="0">
            <a:solidFill>
              <a:srgbClr val="8AA97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D1A57A-5F7E-4BBC-A71B-57FB9CA5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86300"/>
            <a:ext cx="2076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76"/>
          </a:solidFill>
          <a:ln xmlns:a="http://schemas.openxmlformats.org/drawingml/2006/main" w="0">
            <a:solidFill>
              <a:srgbClr val="FFD97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578C6E-699F-4C90-9F0C-BB920041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006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2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2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Shopify UI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EEF1C1-DEB2-45D4-BA73-41D32C13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91100"/>
            <a:ext cx="1809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.vego-button--primary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391C5B-800B-48BF-ACB9-BB03C3D9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895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Why it matters / 为什么重要：token 让设计修改可 review、可测试、可回滚；否则每个页面都会长出一套临时 CSS。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CFB994-DD97-43B9-A984-C53B4DBB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8A76F9-5AA6-4626-829B-B53F2FE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Design System | Figma + Shopify Execution Storyline | 2026-06-13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B2DFFF-FAFC-4FBE-BBA4-ED3FE156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199352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31DAE2-9C1F-4CF3-96AB-2B406F85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5DEAB2-58BD-4DB7-A436-6DF5027A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82ADE-D06B-46FC-93A9-DEB29240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TOKEN BRIDGE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3965F7-7A2A-4071-8098-95242BCC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Token bridge 把设计语义转成 GitHub 可执行代码</a:t>
            </a:r>
          </a:p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The token bridge turns design meaning into executable GitHub code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9B8EC1-0381-42B5-91B1-6CEB8FD9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Token 不是 class 本身；它是语义变量。GitHub 放的是 Shopify 可执行、开发可维护、团队可 review 的代码和配置。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E59D4-BE03-44AB-A390-1C0FC814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2362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030AC-6E8B-4AC9-9342-BEAC14B4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Figma</a:t>
            </a:r>
          </a:p>
          <a:p xmlns:a="http://schemas.openxmlformats.org/drawingml/2006/main">
            <a:pPr algn="ctr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Design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69DCDF-79CD-49EA-B203-CE449F63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color/commerce/cta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type/commerce/cta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radius/control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BD032-57A9-48B5-B07D-360C4614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38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03249-B064-4353-A35A-EEF7D4B2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52700"/>
            <a:ext cx="2362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03827-D2A0-40A0-AFF8-40319531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GitHub</a:t>
            </a:r>
          </a:p>
          <a:p xmlns:a="http://schemas.openxmlformats.org/drawingml/2006/main">
            <a:pPr algn="ctr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Engineering source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08909D-8D7F-4EE5-AE9C-4D821E10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29000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Shopify-executable code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maintainable config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reviewable PRs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3BA22-16DC-4590-9879-388F15D1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38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18424-9113-4DCC-A773-E8DBDB63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52700"/>
            <a:ext cx="2362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2A51D2-70B1-4FA8-B7C8-08B81020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813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Shopify Theme</a:t>
            </a:r>
          </a:p>
          <a:p xmlns:a="http://schemas.openxmlformats.org/drawingml/2006/main">
            <a:pPr algn="ctr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CSS + Liquid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CAA4D2-5A37-4E06-B5D8-EBDA5A26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29000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.vego-button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snippets/price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sections/main-product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972FCD-B6F4-43C5-B122-752C3B4E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38500"/>
            <a:ext cx="28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26CC43-F37F-4B81-8B47-D4FF5FD0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52700"/>
            <a:ext cx="2362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0C22C-3326-45FC-B41D-2D61D2A7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81300"/>
            <a:ext cx="190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Notion</a:t>
            </a:r>
          </a:p>
          <a:p xmlns:a="http://schemas.openxmlformats.org/drawingml/2006/main">
            <a:pPr algn="ctr">
              <a:def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Governance log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A43B8-EBA2-4A77-995F-E8AA92D51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29000"/>
            <a:ext cx="1924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decision record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version note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release checklist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96FD08-39A1-4FA9-95F0-2D164C72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9144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164D5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E99C45-379D-48C5-B188-122AE0BE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24450"/>
            <a:ext cx="861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9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GitHub 放的不是设计稿，而是能被 Shopify 执行、能被开发维护、能被团队 review 的工程代码和配置。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7013CA-BA45-4C2E-90F4-014D603AA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372100"/>
            <a:ext cx="7962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1">
                <a:solidFill>
                  <a:srgbClr val="D9E88B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D9E88B"/>
                </a:solidFill>
                <a:latin typeface="Aptos"/>
                <a:ea typeface="Aptos"/>
                <a:cs typeface="Aptos"/>
              </a:rPr>
              <a:t>GitHub stores Shopify-executable, developer-maintainable, reviewable engineering code and configuration.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7D469-FC59-4FF1-B594-F4E97FEB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66CFD-9ED1-4032-920D-DDAC396E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Design System | Figma + Shopify Execution Storyline | 2026-06-13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839A03-7DC1-4B8B-90F0-E850B11F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52926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B9CAB7-8794-4F54-8037-D80CCF40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9A0FA-4F70-40A0-B13F-52EE6983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62B3C7-DDEF-4495-8E39-14BF85EA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GITHUB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900A0-22AC-4DAE-B767-B44598FA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GitHub 放工程代码和配置，不放设计稿</a:t>
            </a:r>
          </a:p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GitHub stores engineering code and config, not design mockups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1B288-EB0A-4149-80C1-A61261D4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目标是让 DS 从“看起来对”变成线上可复用、可审查、可回滚、可发布。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D3C4E-6BD1-4F69-89F4-60A2CA32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2324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7E80B-6ECB-4A95-A815-D264B008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98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Tokens</a:t>
            </a:r>
          </a:p>
          <a:p xmlns:a="http://schemas.openxmlformats.org/drawingml/2006/main">
            <a:pPr algn="ctr">
              <a:def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工程化源头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4DE41-27D9-4B33-9B87-CB461E50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tokens/tokens.json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颜色、字体、间距、圆角、阴影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95874-D10D-4A45-9A11-382F9A4A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43150"/>
            <a:ext cx="2324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0CD81E-BFE4-43E6-91A4-98ED0ECD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098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CSS / JS</a:t>
            </a:r>
          </a:p>
          <a:p xmlns:a="http://schemas.openxmlformats.org/drawingml/2006/main">
            <a:pPr algn="ctr">
              <a:def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前端执行层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38CC50-9057-4208-86AE-4B5BAFD9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assets/vego-tokens.css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assets/vego-components.css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assets/vego-components.js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8879F7-8B4F-4C48-87A1-D1557173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2324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A92922-EFDB-4DA6-BF2A-3145904C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98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Liquid</a:t>
            </a:r>
          </a:p>
          <a:p xmlns:a="http://schemas.openxmlformats.org/drawingml/2006/main">
            <a:pPr algn="ctr">
              <a:def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Shopify 组件层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19D077-423C-43EE-8ED5-D064837C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snippets/vego-price.liquid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snippets/vego-product-card.liquid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sections/main-product.liquid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A2DD9-6EEC-40DB-A3CF-08BCFF3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343150"/>
            <a:ext cx="23241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61E07-D4A9-4B13-A73F-8C397E15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09850"/>
            <a:ext cx="1905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Docs / QA</a:t>
            </a:r>
          </a:p>
          <a:p xmlns:a="http://schemas.openxmlformats.org/drawingml/2006/main">
            <a:pPr algn="ctr">
              <a:def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协作审查层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F25BA3-4B19-4F29-BC92-780280E9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19450"/>
            <a:ext cx="1943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docs/token-mapping.md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docs/qa-checklist.md</a:t>
            </a:r>
          </a:p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CHANGELOG.md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CA534-1312-47B3-B6DC-60198BCCE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48577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A71328-4E85-47B8-9B7E-27809A1D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Example / 例子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FD4C5C-2A7F-4F50-B32A-DA4CD0DE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Figma: Button / Commerce Primary</a:t>
            </a:r>
          </a:p>
          <a:p xmlns:a="http://schemas.openxmlformats.org/drawingml/2006/main">
            <a:pPr algn="l">
              <a:defRPr sz="788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color/commerce/cta = #FFD76A</a:t>
            </a:r>
          </a:p>
          <a:p xmlns:a="http://schemas.openxmlformats.org/drawingml/2006/main">
            <a:pPr algn="l">
              <a:defRPr sz="788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radius/control = 4px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22C528-B018-4899-BDD9-4539142A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219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53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CSS: .vego-button--primary {</a:t>
            </a:r>
          </a:p>
          <a:p xmlns:a="http://schemas.openxmlformats.org/drawingml/2006/main">
            <a:pPr algn="l">
              <a:defRPr sz="653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  background: var(--vego-color-commerce-cta);</a:t>
            </a:r>
          </a:p>
          <a:p xmlns:a="http://schemas.openxmlformats.org/drawingml/2006/main">
            <a:pPr algn="l">
              <a:defRPr sz="653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  border-radius: var(--vego-radius-control);</a:t>
            </a:r>
          </a:p>
          <a:p xmlns:a="http://schemas.openxmlformats.org/drawingml/2006/main">
            <a:pPr algn="l">
              <a:defRPr sz="653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653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}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7298B-CF3A-454B-9C2D-9BD42CC56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43400"/>
            <a:ext cx="5334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9525">
            <a:solidFill>
              <a:srgbClr val="164D5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7272B1-EE35-4A3F-902B-65BC059A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62915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Figma 定义样式语义；GitHub 实现变量、CSS、Liquid、JS 和主题代码；Notion 记录决策与版本。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EEE216-34AF-4C1C-8B1D-94465E05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10150"/>
            <a:ext cx="4343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D9E88B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D9E88B"/>
                </a:solidFill>
                <a:latin typeface="Aptos"/>
                <a:ea typeface="Aptos"/>
                <a:cs typeface="Aptos"/>
              </a:rPr>
              <a:t>Figma defines meaning; GitHub implements tokens, CSS, Liquid, JS and theme code; Notion records decisions and versions.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35E02-4E24-4E9A-91AB-2BC5344F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4A671C-B7C7-479E-9D7C-5644EA8F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Design System | Figma + Shopify Execution Storyline | 2026-06-13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CA8151-B643-4B63-A3AB-96395101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88973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356D82-40D0-4114-A05A-330AEA98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DCF3F-374B-464D-95FB-F4497470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7BB1D-4E35-4B5A-B263-89C3F060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SHOPIFY BASICS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86B88-7961-485C-8A30-5A766172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Liquid 是模板语言，snippets 是 Liquid 写成的可复用模块</a:t>
            </a:r>
          </a:p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Liquid is the template language; snippets are reusable Liquid modules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4E681-3949-4E69-A138-2D5E704C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它们不是同一个层级：Liquid 是语法，snippets/sections/templates/assets 是 Shopify theme 的工程组织方式。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2FEAC-25D1-4E88-8F84-6A2E448E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524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4C425-9C99-4828-A4B5-D70D4CB2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Shopify Theme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BADD8-1902-425C-9038-0E104795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670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2F66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BC8FA-670F-45D7-AAEE-93D8D2F8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sections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36B25-CA01-4FFC-BEED-2B53EE90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0037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页面上的大模块 / page-level blocks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3057F2-8659-4413-B002-79A4B34F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67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2F66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05CE0A-0D6F-4B3B-91D5-3C3599BD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909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snippets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F7783-21B7-4E14-93E8-D431C09D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可复用小模块 / reusable modules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84623-144B-4162-BFA3-462C51C8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2F66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C7023-A23D-4DBF-89D2-DAD5A460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909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templates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FE1F2-BB6F-4556-A853-C071CB51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0047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页面模板 / page templates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5787DB-7594-4D6D-8CCB-DC3F2895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67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2F66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5E739-2367-416B-9702-0F59C093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assets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647005-6923-4616-AF4E-F1CAE27A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20052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CSS / JS / 图片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A280FD-89EB-44A3-9BF9-D0690C2B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502E"/>
          </a:solidFill>
          <a:ln xmlns:a="http://schemas.openxmlformats.org/drawingml/2006/main" w="0">
            <a:solidFill>
              <a:srgbClr val="A9502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04C01D-8330-4EFE-849E-07E13DFC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91050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Liquid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CB3DB8-23EF-484B-8864-FDA61D5F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00575"/>
            <a:ext cx="1695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以上文件里使用的模板语言 / template syntax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7F52B4-C98A-4AB5-8E15-7847D401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6572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42124A-26C4-41D3-86EB-0EEC1E1D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438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Example / 示例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0710CB-A3B4-4701-89CC-04B4B03A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{% render 'price', product: product %}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70A475-E495-4C8B-A815-CFACD2E5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0510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在当前 Liquid 模板里，调用 snippets/price.liquid。它负责输出价格 HTML，例如 product.price。</a:t>
            </a:r>
          </a:p>
          <a:p xmlns:a="http://schemas.openxmlformats.org/drawingml/2006/main">
            <a:pPr algn="l">
              <a:defRPr sz="765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Inside a Liquid template, render calls snippets/price.liquid to output product price HTML.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0F63E-CC57-48C6-AD79-CFEF0D66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276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B3982A-BAD4-4C82-AB96-3D860738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390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A9502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9502E"/>
                </a:solidFill>
                <a:latin typeface="Aptos"/>
                <a:ea typeface="Aptos"/>
                <a:cs typeface="Aptos"/>
              </a:rPr>
              <a:t>&lt;span class="price"&gt;{{ product.price | money }}&lt;/span&gt;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56C2D3-872F-4923-94E8-2E878792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05250"/>
            <a:ext cx="657225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C9C170-F30B-4940-A07E-16447DC4D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1148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Liquid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5375B7-4B03-490A-AE0F-407D28C9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4196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模板语言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CF6F8B-9562-4122-BC63-C8C6A30B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7053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HTML 里的动态语法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09465E-2602-4817-AB15-B23335EC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148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snippet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6E9600C-A3A9-4DC3-8ED4-AADDFD68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96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可复用模板片段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95E0CC-77F3-4657-A3E7-4EEFAA3C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053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组件的小零件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E80ED6-E90E-457E-8F85-70A769B8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section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5454D0-3BD2-41CC-A6A8-74015785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196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页面级模块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FD29C5-C323-46A1-97E2-39040C8D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053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首页 Hero / 推荐区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486212-5998-4335-A287-0653C81A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14800"/>
            <a:ext cx="1352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theme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B17F38-DC62-4217-8218-82C65700C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419600"/>
            <a:ext cx="1352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6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前端代码整体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3534EE-D75C-445A-A096-2C0D4F62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705350"/>
            <a:ext cx="1352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整个网站前端项目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9AC45D-A99C-4DEE-8FFD-335BE145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19750"/>
            <a:ext cx="9867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9525">
            <a:solidFill>
              <a:srgbClr val="164D5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201399-634B-41C0-87ED-773208B1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933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DS 落地链路：Figma 组件 → Design Token → Shopify CSS variables/classes → Liquid sections + snippets → 线上页面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CBC046-4E8B-4D0E-82D2-B77618CB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953125"/>
            <a:ext cx="845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23" b="1">
                <a:solidFill>
                  <a:srgbClr val="D9E88B"/>
                </a:solidFill>
                <a:latin typeface="Aptos"/>
                <a:ea typeface="Aptos"/>
                <a:cs typeface="Aptos"/>
              </a:defRPr>
            </a:pPr>
            <a:r>
              <a:rPr sz="623" b="1">
                <a:solidFill>
                  <a:srgbClr val="D9E88B"/>
                </a:solidFill>
                <a:latin typeface="Aptos"/>
                <a:ea typeface="Aptos"/>
                <a:cs typeface="Aptos"/>
              </a:rPr>
              <a:t>Liquid is open-source and used beyond Shopify, but sections/snippets/templates are Shopify theme conventions in this VEGO work.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5A569B-FF14-4125-A222-4ADA9F2E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F02426-6815-4CB9-AB2F-5DC1D1C6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Design System | Figma + Shopify Execution Storyline | 2026-06-13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D25CEC-7D49-4F6A-A128-E7F67E32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290412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CC5DF5-8EDD-4E12-851F-ED680A35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9BBE6-6305-4C74-A305-C0AF6835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5BC3E-49AE-4B01-91B0-05DC93D6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SHOPIFY ROLLOUT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BDFF33-D64D-4A3C-942D-45F8AC678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工程落地从 preview theme 开始，不从线上整站改版开始</a:t>
            </a:r>
          </a:p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Start in a preview theme, not a live full-site redesign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3D9EF-B081-4B69-8202-8987DB5F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目标是在不影响当前业务的前提下，把 token 和组件实现约定接进低风险区域，再逐步扩大。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433193-65B9-4F93-A6A0-AC69B5E3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866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23DD7-5902-4939-B96A-114480A4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D9D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6E2AD-1B93-454E-93EE-E3368419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FE78A9-2E50-435C-9823-BE9EF744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Theme copy</a:t>
            </a:r>
          </a:p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复制主题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9987F-9D95-4D9B-A605-269A4275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Duplicate live theme or staging theme.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CF93F-CEC6-4C87-A8EE-8A9F4B17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24125"/>
            <a:ext cx="1866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5D123-DC01-47D0-80B3-73A4DBFA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D9D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B7331-0022-41E6-9633-459EC95B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0591DB-4EFF-4ECE-9B5C-1CB5E84A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3718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Token CSS</a:t>
            </a:r>
          </a:p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接入变量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F5A014-2F76-449A-95F7-EDCD6695B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052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Add :root variables and component classes.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1D6AC-7C74-4653-BA88-E810A592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24125"/>
            <a:ext cx="1866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3BA48-3205-414E-9A49-7F58962A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D4F"/>
          </a:solidFill>
          <a:ln xmlns:a="http://schemas.openxmlformats.org/drawingml/2006/main" w="0">
            <a:solidFill>
              <a:srgbClr val="D9D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4552D9-D575-4F44-9989-9FFD667A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575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97213-E715-4E01-B82E-825B11CE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3718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Low-risk spike</a:t>
            </a:r>
          </a:p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低风险验证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7308F-C195-40CF-8E37-9DED9332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Button, Badge, Price first.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97C653-FB2B-4512-A556-303C7FCA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24125"/>
            <a:ext cx="1866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075EA5-496E-4D04-9BBA-4AD6CAEDA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D9DEC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5F5058-5C14-4B6B-879A-C3B54015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0D8CA-24D8-4091-BC7E-03CCC82E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718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Section mapping</a:t>
            </a:r>
          </a:p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映射 section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47F7D2-99B8-4F75-AA0C-9CCC6917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9052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Header, product card, PDP form, guidance.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FAD610-8747-49F5-9611-961DEFC2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24125"/>
            <a:ext cx="1866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6509C6-5AEB-41BC-8B29-7DCB7D2B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724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D9D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E1731E-B644-44BB-B59C-85E1A101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857500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8F125C-E973-4BC1-B800-61A6FE3C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7185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QA gate</a:t>
            </a:r>
          </a:p>
          <a:p xmlns:a="http://schemas.openxmlformats.org/drawingml/2006/main">
            <a:pPr algn="ctr">
              <a:defRPr sz="1050" b="1">
                <a:solidFill>
                  <a:srgbClr val="17351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51F"/>
                </a:solidFill>
                <a:latin typeface="Aptos"/>
                <a:ea typeface="Aptos"/>
                <a:cs typeface="Aptos"/>
              </a:rPr>
              <a:t>验收上线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E7A9A7-D2F0-438F-85DA-B46E1744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905250"/>
            <a:ext cx="1447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Mobile, contrast, conversion flow, rollback.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379995-4D90-4F74-ABD0-25EFD0A2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02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Business safety / 业务安全：先验证 token 能控制视觉，再替换真实页面模块；任何生产改动都必须有 staging 截图和 rollback。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6A18DCC-77C5-4836-A599-E136104E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51EC19-A67B-4581-8EE6-E2AFA952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Design System | Figma + Shopify Execution Storyline | 2026-06-13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6CDB83-15E9-45D3-B6B8-537CF1D5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44674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248F5C-2FAA-4B25-BBBC-F588A682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4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F25A7-B706-4584-ACF4-C956DE4E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FAC5CD-35EF-4890-86EA-192EAA71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NEXT OPERATING MECHANISM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EAAF0-B95D-4FD3-A5C5-778C6DBE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933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方案落地的关键，是让团队按同一套机制使用和迭代</a:t>
            </a:r>
          </a:p>
          <a:p xmlns:a="http://schemas.openxmlformats.org/drawingml/2006/main">
            <a:pPr algn="l">
              <a:def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The proposal works only if teams use and iterate through one operating mechanism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292849-FDD7-4417-B4FF-BC3D4499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990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这不是一次性设计稿；后续动作是把 Figma、GitHub、Shopify preview 和版本记录连成固定工作流。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D102AB-A487-4E57-AF71-7B58BA27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390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56046-944B-4C7A-BD0B-9E5B08AA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2F66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8AA3F-9242-4BF3-8DE7-925D21AB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52B1B-2240-459E-B72C-B906225F4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527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Publish usable library</a:t>
            </a:r>
          </a:p>
          <a:p xmlns:a="http://schemas.openxmlformats.org/drawingml/2006/main">
            <a:pPr algn="l">
              <a:def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发布可调用组件库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4B396-1A6F-4968-A390-06021EBA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46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把 Foundation、Token、Button、Price、Badge、Product Card 等整理成 Figma Library，让设计师从组件和 variants 开始，而不是复制旧页面。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C96A9-1B8D-4340-AFBD-8055AC13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24100"/>
            <a:ext cx="3390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9A7349-875D-4F72-899C-E46761B4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2F66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D7863-FE5A-43A9-A892-2B27214E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19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1147C-0752-4CA5-8F9F-38A9BA33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5527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Define designer SOP</a:t>
            </a:r>
          </a:p>
          <a:p xmlns:a="http://schemas.openxmlformats.org/drawingml/2006/main">
            <a:pPr algn="l">
              <a:def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固化设计师使用方式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47433-381F-45F8-82D9-BE53FB73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146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新页面先选模板，再替换内容；颜色、字体、间距、状态走 token 和组件属性；发现缺口进入 DS request，不临时发明样式。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360E4-C079-4DE1-B435-77A891D1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3390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AE905-4A67-4948-9471-5090FB80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2F663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DD87E-8C1F-40C3-80FA-5904099B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193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F57E0-8744-4751-8E53-FC7954E0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527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Create change intake</a:t>
            </a:r>
          </a:p>
          <a:p xmlns:a="http://schemas.openxmlformats.org/drawingml/2006/main">
            <a:pPr algn="l">
              <a:def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建立新增/修改入口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26473-9D00-44AB-91FA-9E9FE0E5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146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新增 badge、组件、页面 pattern 或 token 变更，先判断是否复用现有体系，再决定 Figma 变体、GitHub 代码和 Shopify 数据来源。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8F580-2F3E-4E51-922B-8A9B9D84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962400"/>
            <a:ext cx="3390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297DA-B367-45AB-B138-F10BC072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2F663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36629F-B94F-462B-B78E-D83F5B3C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576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741428-F07C-4699-8DF4-6FE5D1CA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910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Sync version records</a:t>
            </a:r>
          </a:p>
          <a:p xmlns:a="http://schemas.openxmlformats.org/drawingml/2006/main">
            <a:pPr algn="l">
              <a:def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同步版本和决策记录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70E52C-3F5C-4E3B-ACD9-790680F8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52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Figma 管设计资产；GitHub 管 token、CSS、Liquid、JS；Notion/文档记录为什么改、谁批准、哪个版本发布。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F946A6-26B9-4E22-8588-D053F486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62400"/>
            <a:ext cx="33909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EF"/>
          </a:solidFill>
          <a:ln xmlns:a="http://schemas.openxmlformats.org/drawingml/2006/main" w="9525">
            <a:solidFill>
              <a:srgbClr val="D9D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9B14B3-FA8F-414F-BF39-03E53D7F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910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63B"/>
          </a:solidFill>
          <a:ln xmlns:a="http://schemas.openxmlformats.org/drawingml/2006/main" w="0">
            <a:solidFill>
              <a:srgbClr val="2F663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93ABC7-7B51-48A8-BD65-E08760E5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57675"/>
            <a:ext cx="323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AF5B40-1D47-438A-976A-143CC31A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91000"/>
            <a:ext cx="2495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Validate in preview</a:t>
            </a:r>
          </a:p>
          <a:p xmlns:a="http://schemas.openxmlformats.org/drawingml/2006/main">
            <a:pPr algn="l">
              <a:def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defRPr>
            </a:pPr>
            <a:r>
              <a:rPr sz="1163" b="1">
                <a:solidFill>
                  <a:srgbClr val="17351F"/>
                </a:solidFill>
                <a:latin typeface="Aptos Display"/>
                <a:ea typeface="Aptos Display"/>
                <a:cs typeface="Aptos Display"/>
              </a:rPr>
              <a:t>用 preview theme 验证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19047D-2A6A-45BD-B752-19B6B568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529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31513A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31513A"/>
                </a:solidFill>
                <a:latin typeface="Aptos"/>
                <a:ea typeface="Aptos"/>
                <a:cs typeface="Aptos"/>
              </a:rPr>
              <a:t>先在 Shopify preview theme 中接入低风险模块，检查 mobile、contrast、price、CTA、conversion flow，再决定是否扩大范围。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69A894-9CD5-4A59-AD0E-671839F8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7690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D5D"/>
          </a:solidFill>
          <a:ln xmlns:a="http://schemas.openxmlformats.org/drawingml/2006/main" w="0">
            <a:solidFill>
              <a:srgbClr val="164D5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CDC02D-0D42-40AF-AE95-1375F8D2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772150"/>
            <a:ext cx="868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9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9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 / 预期结果：DS 从“看起来一致”变成“设计可调用、工程可 review、上线可验证、版本可追踪”。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CDEA86-3171-4934-90F3-679AED6E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838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F8F2B1-C8D4-4A0A-B35C-096E49D3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687A67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687A67"/>
                </a:solidFill>
                <a:latin typeface="Aptos"/>
                <a:ea typeface="Aptos"/>
                <a:cs typeface="Aptos"/>
              </a:rPr>
              <a:t>VEGO Design System | Figma + Shopify Execution Storyline | 2026-06-13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ADB3F3-13A2-4F54-8062-54BCB942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770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F663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63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78215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2026-06-14T04:39:28.8500000Z</dcterms:created>
  <dcterms:modified xsi:type="dcterms:W3CDTF">2026-06-14T04:39:28.8500000Z</dcterms:modified>
</coreProperties>
</file>