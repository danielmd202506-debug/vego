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3648" r="13648"/>
          <a:stretch>
            <a:fillRect/>
          </a:stretch>
        </p:blipFill>
        <p:spPr>
          <a:xfrm>
            <a:off x="6191250" y="666750"/>
            <a:ext cx="5429250" cy="466725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191250" y="666750"/>
            <a:ext cx="5429250" cy="4667250"/>
          </a:xfrm>
          <a:prstGeom prst="rect">
            <a:avLst/>
          </a:prstGeom>
          <a:solidFill>
            <a:srgbClr val="17351F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5524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VEGO Garden</a:t>
            </a:r>
            <a:endParaRPr sz="13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123950"/>
            <a:ext cx="5286375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官网 Design System</a:t>
            </a:r>
            <a:endParaRPr sz="28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8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现状与优化计划</a:t>
            </a:r>
            <a:endParaRPr sz="28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8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Current State &amp; Plan</a:t>
            </a:r>
            <a:endParaRPr sz="28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781300"/>
            <a:ext cx="5143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从“好看的园艺电商”升级为“可复用、可扩展、可导购”的品牌零售系统。</a:t>
            </a:r>
            <a:endParaRPr sz="1275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From a polished garden commerce site to a reusable, scalable guided retail system.</a:t>
            </a:r>
            <a:endParaRPr sz="1275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3695700"/>
            <a:ext cx="504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范围 / Scope：首页、导航、分类页、商品详情页、Help Me Choose、移动端首屏。</a:t>
            </a:r>
            <a:endParaRPr sz="10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4381500"/>
            <a:ext cx="131445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4448175"/>
            <a:ext cx="1123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System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57400" y="4381500"/>
            <a:ext cx="1524000" cy="28575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4448175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Optimization Plan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52850" y="4381500"/>
            <a:ext cx="1485900" cy="285750"/>
          </a:xfrm>
          <a:prstGeom prst="rect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848100" y="4448175"/>
            <a:ext cx="1295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Guided Commerce</a:t>
            </a:r>
            <a:endParaRPr sz="82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01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SYSTEM SNAPSHOT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为什么要固化品牌层、交易层、导购层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Why define Brand, Commerce, and Guidance layers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同时承担品牌信任、商品成交和复杂选择三件事；三层关系能让设计与开发判断每个模块的职责。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must build trust, convert purchases, and simplify complex choices; the layers clarify module ownership.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019300"/>
            <a:ext cx="9334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1907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核心判断 / Key take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43250" y="2133600"/>
            <a:ext cx="676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不要先重做风格，先把“品牌、交易、导购”的职责边界固定下来。</a:t>
            </a:r>
            <a:endParaRPr sz="10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Do not redesign the style first; define the responsibilities of Brand, Commerce, and Guidance first.</a:t>
            </a:r>
            <a:endParaRPr sz="10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3048000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3048000"/>
            <a:ext cx="3143250" cy="76200"/>
          </a:xfrm>
          <a:prstGeom prst="rect">
            <a:avLst/>
          </a:prstGeom>
          <a:solidFill>
            <a:srgbClr val="2F66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33528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Brand Layer</a:t>
            </a:r>
            <a:endParaRPr sz="8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3638550"/>
            <a:ext cx="2381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品牌层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Brand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4267200"/>
            <a:ext cx="2628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让用户愿意看：建立 VEGO 是谁，自然、可信、家庭园艺、户外生活。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Make users care: define who VEGO is through nature, trust, gardening, and outdoor life.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76750" y="3048000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76750" y="3048000"/>
            <a:ext cx="3143250" cy="76200"/>
          </a:xfrm>
          <a:prstGeom prst="rect">
            <a:avLst/>
          </a:prstGeom>
          <a:solidFill>
            <a:srgbClr val="A95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43450" y="33528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Commerce Layer</a:t>
            </a:r>
            <a:endParaRPr sz="82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43450" y="3638550"/>
            <a:ext cx="2381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交易层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Commerce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43450" y="4267200"/>
            <a:ext cx="2628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让用户可以买：价格、折扣、评价、库存、色卡和 Add to Cart。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Enable purchase: clarify price, sale, reviews, stock, swatches, and ATC.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0" y="3048000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91500" y="3048000"/>
            <a:ext cx="3143250" cy="76200"/>
          </a:xfrm>
          <a:prstGeom prst="rect">
            <a:avLst/>
          </a:prstGeom>
          <a:solidFill>
            <a:srgbClr val="8AA9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458200" y="33528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Guidance Layer</a:t>
            </a:r>
            <a:endParaRPr sz="825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58200" y="3638550"/>
            <a:ext cx="2381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导购层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Guidance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458200" y="4267200"/>
            <a:ext cx="2628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让用户知道买哪个：把尺寸、高度、颜色、kit 类型翻译成场景建议。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Guide the choice: translate size, height, color, and kit type into scenarios and advice.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619250" y="5572125"/>
            <a:ext cx="8953500" cy="4000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809750" y="5629275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一句话 / In short: 品牌层建立信任，交易层完成购买，导购层降低选择成本。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Brand builds trust, Commerce converts, Guidance reduces choice cost.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02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VISUAL TOKENS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颜色系统：问题不是不统一，而是职责不够清楚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Color system: recognizable, but roles are not specific enough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当前促销、CTA、提示和导购都在使用相近的黄/橙/绿，用户很难判断哪个是主行动。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Promo, CTA, alert, and guidance colors overlap; users cannot always tell the primary action.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209800"/>
            <a:ext cx="1809750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457450"/>
            <a:ext cx="1390650" cy="45720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0670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Brand</a:t>
            </a:r>
            <a:endParaRPr sz="120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3909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Logo / heading / nav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品牌识别、标题、导航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40005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只用于品牌信号，不承载折扣。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Brand signal only, not discount.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19400" y="2209800"/>
            <a:ext cx="1809750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28950" y="2457450"/>
            <a:ext cx="1390650" cy="457200"/>
          </a:xfrm>
          <a:prstGeom prst="rect">
            <a:avLst/>
          </a:prstGeom>
          <a:solidFill>
            <a:srgbClr val="FBF4D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028950" y="30670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Surface</a:t>
            </a:r>
            <a:endParaRPr sz="120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90850" y="33909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Page background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页面底色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90850" y="40005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保持温暖，但卡片和模块用白色拉开层级。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Warm base; use white for cards.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72050" y="2209800"/>
            <a:ext cx="1809750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81600" y="2457450"/>
            <a:ext cx="1390650" cy="457200"/>
          </a:xfrm>
          <a:prstGeom prst="rect">
            <a:avLst/>
          </a:prstGeom>
          <a:solidFill>
            <a:srgbClr val="FFD976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181600" y="30670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Commerce CTA</a:t>
            </a:r>
            <a:endParaRPr sz="120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33909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Add to Cart / Shop Now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主购买按钮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0" y="40005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只给购买动作，避免和促销 badge 混用。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Reserve for purchase actions.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24700" y="2209800"/>
            <a:ext cx="1809750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34250" y="2457450"/>
            <a:ext cx="1390650" cy="457200"/>
          </a:xfrm>
          <a:prstGeom prst="rect">
            <a:avLst/>
          </a:prstGeom>
          <a:solidFill>
            <a:srgbClr val="A9502E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334250" y="30670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Promo Sale</a:t>
            </a:r>
            <a:endParaRPr sz="120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296150" y="33909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Discount / sale badge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折扣、活动标签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96150" y="40005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用于折扣和紧急促销，不用于主 CTA。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Use for sale urgency, not CTA.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277350" y="2209800"/>
            <a:ext cx="1809750" cy="24288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486900" y="2457450"/>
            <a:ext cx="1390650" cy="457200"/>
          </a:xfrm>
          <a:prstGeom prst="rect">
            <a:avLst/>
          </a:prstGeom>
          <a:solidFill>
            <a:srgbClr val="8AA970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486900" y="30670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Guidance</a:t>
            </a:r>
            <a:endParaRPr sz="120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448800" y="33909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Help Me Choose / scenario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导购、场景筛选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48800" y="40005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让导购模块有独立识别，不被促销淹没。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ctr">
              <a:defRPr sz="75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Separate guidance from promo.</a:t>
            </a:r>
            <a:endParaRPr sz="75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4953000"/>
            <a:ext cx="962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219200" y="51244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具体落地 / Implementation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048000" y="50673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1. Figma Variables 建 5 个 color role；2. Shopify CSS variables 同名映射；3. 检查 Button、Badge、PromoBanner、GuidanceTag 是否引用正确 token。</a:t>
            </a:r>
            <a:endParaRPr sz="90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Create five Figma color roles, map them to Shopify CSS variables, then audit Button, Badge, PromoBanner, and GuidanceTag usage.</a:t>
            </a:r>
            <a:endParaRPr sz="90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03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TYPE + HIERARCHY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字体优化：不是换字体，而是给每种信息固定角色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Typography: keep the voice, assign roles to information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当前 serif 标题有品牌温度，但促销、商品名、价格、导购解释的层级没有被系统化。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The serif voice works; the missing piece is a repeatable hierarchy for promo, product, price, and guidance.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238375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238375"/>
            <a:ext cx="2381250" cy="76200"/>
          </a:xfrm>
          <a:prstGeom prst="rect">
            <a:avLst/>
          </a:prstGeom>
          <a:solidFill>
            <a:srgbClr val="2F66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5527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Display / Campaign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952750"/>
            <a:ext cx="1866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活动标题、品牌故事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Campaign and brand story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619500"/>
            <a:ext cx="186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Serif 34-44 / bold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只用于首屏和大型活动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09950" y="2238375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409950" y="2238375"/>
            <a:ext cx="2381250" cy="76200"/>
          </a:xfrm>
          <a:prstGeom prst="rect">
            <a:avLst/>
          </a:prstGeom>
          <a:solidFill>
            <a:srgbClr val="A95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619500" y="25527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Commerce Heading</a:t>
            </a:r>
            <a:endParaRPr sz="112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19500" y="2952750"/>
            <a:ext cx="1866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商品名、分类名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Product and category names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19500" y="3619500"/>
            <a:ext cx="186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Serif 20-28 / semibold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商品卡最多 2 行，PDP 可 2-3 行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91250" y="2238375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2238375"/>
            <a:ext cx="2381250" cy="76200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25527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Price + Utility</a:t>
            </a:r>
            <a:endParaRPr sz="1125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00800" y="2952750"/>
            <a:ext cx="1866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价格、库存、筛选、导航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Price, stock, filters, nav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00800" y="3619500"/>
            <a:ext cx="186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Sans 13-18 / medium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价格优先级高于折扣说明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72550" y="2238375"/>
            <a:ext cx="2381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A97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972550" y="2238375"/>
            <a:ext cx="2381250" cy="76200"/>
          </a:xfrm>
          <a:prstGeom prst="rect">
            <a:avLst/>
          </a:prstGeom>
          <a:solidFill>
            <a:srgbClr val="8AA9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182100" y="25527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Guidance Copy</a:t>
            </a:r>
            <a:endParaRPr sz="1125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82100" y="2952750"/>
            <a:ext cx="1866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选择解释、场景建议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Choice help and scenarios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82100" y="3619500"/>
            <a:ext cx="186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Sans 13-15 / regular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贴近选项出现，不放长段落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4875" y="4953000"/>
            <a:ext cx="966787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19200" y="51244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具体落地 / Implementation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048000" y="5067300"/>
            <a:ext cx="704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建 text styles：display / commerce-title / utility / guidance；Shopify 里把 product-card、main-product、facets、promo banner 分别绑定对应 class。</a:t>
            </a:r>
            <a:endParaRPr sz="90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Create Figma text styles and bind Shopify product-card, main-product, facets, and promo banner to matching typography classes.</a:t>
            </a:r>
            <a:endParaRPr sz="90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04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COMPONENT SYSTEM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组件页要回答：哪些组件要抽、抽到哪里、先改什么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Component system: what to extract, where it lives, what to fix first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不是缺 UI 元素，而是缺可复用的组件边界。建议按 Shopify Theme 的 sections / snippets / JS behavior 来拆。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has UI elements, but not enough reusable component boundaries. Map them to Shopify sections, snippets, and JS behavior.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266950"/>
            <a:ext cx="23812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266950"/>
            <a:ext cx="2381250" cy="666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5527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Navigation</a:t>
            </a:r>
            <a:endParaRPr sz="16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9908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当前问题：促销、类目、信任信息都在导航区域抢注意力。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Issue: promo, category, and trust messages compete in nav.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3924300"/>
            <a:ext cx="1905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409575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抽成：AnnouncementBar / HeaderMegaMenu / TrustStrip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Extract: sections/header, announcement-bar + trust strip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48050" y="2266950"/>
            <a:ext cx="23812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48050" y="2266950"/>
            <a:ext cx="2381250" cy="666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76650" y="25527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Product Card</a:t>
            </a:r>
            <a:endParaRPr sz="16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676650" y="29908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当前问题：折扣、星级、色卡、加购按钮优先级偏平均。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Issue: sale, rating, swatches, and ATC feel visually equal.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676650" y="3924300"/>
            <a:ext cx="1905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76650" y="409575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抽成：ProductCard / Price / Badge / SwatchGroup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Extract: snippets/card-product, price, badge, swatches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29350" y="2266950"/>
            <a:ext cx="23812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2266950"/>
            <a:ext cx="2381250" cy="666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5527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PDP Purchase</a:t>
            </a:r>
            <a:endParaRPr sz="16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57950" y="29908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当前问题：变体选择有按钮，但缺少选择解释。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Issue: variants are selectable but not explained.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57950" y="3924300"/>
            <a:ext cx="1905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57950" y="409575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抽成：VariantSelector / PurchasePanel / ChoiceHelp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Extract: main-product, variant picker, product-form JS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010650" y="2266950"/>
            <a:ext cx="23812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010650" y="2266950"/>
            <a:ext cx="2381250" cy="666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239250" y="25527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Guidance</a:t>
            </a:r>
            <a:endParaRPr sz="165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39250" y="29908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当前问题：Help Me Choose 是好入口，但没有成为系统组件族。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Issue: Help Me Choose exists, but is not a component family.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39250" y="3924300"/>
            <a:ext cx="1905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4095750"/>
            <a:ext cx="1905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抽成：GuidanceCard / ScenarioFilter / BestForTag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Extract: new guided-choice section, metafields/metaobjects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809750" y="5619750"/>
            <a:ext cx="85725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905000" y="5686425"/>
            <a:ext cx="838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优先级 / Priority: 先统一 ProductCard + PDP VariantSelector，再把 Guidance 做成正式组件族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05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PAGE PATTERNS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页面模式：同一系统在不同页面上的表现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Page patterns: one system across multiple shopping moments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首页负责吸引，分类页负责比较，PDP 负责成交，Help Me Choose 负责降低选择成本。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Homepage attracts, collection compares, PDP converts, Help Me Choose reduces decision cost.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3803" b="3803"/>
          <a:stretch>
            <a:fillRect/>
          </a:stretch>
        </p:blipFill>
        <p:spPr>
          <a:xfrm>
            <a:off x="609600" y="2095500"/>
            <a:ext cx="3381375" cy="1952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8423" b="8423"/>
          <a:stretch>
            <a:fillRect/>
          </a:stretch>
        </p:blipFill>
        <p:spPr>
          <a:xfrm>
            <a:off x="4400550" y="2095500"/>
            <a:ext cx="3381375" cy="1952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8423" b="8423"/>
          <a:stretch>
            <a:fillRect/>
          </a:stretch>
        </p:blipFill>
        <p:spPr>
          <a:xfrm>
            <a:off x="8191500" y="2095500"/>
            <a:ext cx="3381375" cy="195262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09600" y="4267200"/>
            <a:ext cx="3381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44577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Homepage</a:t>
            </a:r>
            <a:endParaRPr sz="13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4695825"/>
            <a:ext cx="290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强活动视觉，但下一步路径主要被 Shop Now 承接。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Strong campaign visual; next step is mostly Shop Now.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00550" y="4267200"/>
            <a:ext cx="3381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91050" y="44577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Collection</a:t>
            </a:r>
            <a:endParaRPr sz="13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91050" y="4695825"/>
            <a:ext cx="290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筛选完整，但按产品参数组织，学习成本偏高。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Complete filters, but organized around product specs.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4267200"/>
            <a:ext cx="3381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44577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PDP</a:t>
            </a:r>
            <a:endParaRPr sz="13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4695825"/>
            <a:ext cx="290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购买模块完整，但高度/颜色/kit 的选择解释不足。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Purchase flow is strong; variant guidance is weak.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5524500"/>
            <a:ext cx="895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页面级优化方向 / Page-level priority: 在每个关键页面补齐“我该怎么选”的系统性解释。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  <a:p>
            <a:pPr algn="ctr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Add systematic “how do I choose?” guidance to each key page.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06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SYSTEM GAPS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主要缺口：不是视觉不统一，而是决策路径不统一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Key gap: not visual consistency, but decision-path consistency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当前最值得修的是信任一致性、选择解释和移动端首屏路径。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The priority is promo consistency, choice explanation, and mobile next-step clarity.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1753" b="1753"/>
          <a:stretch>
            <a:fillRect/>
          </a:stretch>
        </p:blipFill>
        <p:spPr>
          <a:xfrm>
            <a:off x="762000" y="2190750"/>
            <a:ext cx="2000250" cy="3286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244" b="244"/>
          <a:stretch>
            <a:fillRect/>
          </a:stretch>
        </p:blipFill>
        <p:spPr>
          <a:xfrm>
            <a:off x="3143250" y="2190750"/>
            <a:ext cx="3905250" cy="2428875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524750" y="2190750"/>
            <a:ext cx="342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29550" y="24574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优先修复 / Priority fixes</a:t>
            </a:r>
            <a:endParaRPr sz="15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0" y="2895600"/>
            <a:ext cx="400050" cy="228600"/>
          </a:xfrm>
          <a:prstGeom prst="rect">
            <a:avLst/>
          </a:prstGeom>
          <a:solidFill>
            <a:srgbClr val="B84B3F"/>
          </a:solidFill>
          <a:ln w="0">
            <a:solidFill>
              <a:srgbClr val="B84B3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0" y="2943225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0" y="28765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促销口径统一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Promo hierarchy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477375" y="28765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明确 Father’s Day、BOGO、Extra 10% 的主次。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Decide which offer leads and where it appears.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0" y="3467100"/>
            <a:ext cx="400050" cy="228600"/>
          </a:xfrm>
          <a:prstGeom prst="rect">
            <a:avLst/>
          </a:prstGeom>
          <a:solidFill>
            <a:srgbClr val="B84B3F"/>
          </a:solidFill>
          <a:ln w="0">
            <a:solidFill>
              <a:srgbClr val="B84B3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810500" y="3514725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34480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导购入口前置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Promote guidance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477375" y="34480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Help Me Choose 进入首页、分类页、导航主路径。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Make Help Me Choose a primary route.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4038600"/>
            <a:ext cx="400050" cy="22860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0" y="4086225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82000" y="40195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选择解释补齐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Explain choices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77375" y="40195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PDP 高度/颜色/kit 旁说明适合谁、适合什么场景。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Explain variant fit beside the option.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0" y="4610100"/>
            <a:ext cx="400050" cy="228600"/>
          </a:xfrm>
          <a:prstGeom prst="rect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810500" y="4657725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82000" y="45910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移动第二行动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Mobile second action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477375" y="4591050"/>
            <a:ext cx="114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保留促销冲击力，同时给 Help Me Choose 留入口。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Keep campaign impact but expose guidance.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05750" y="5219700"/>
            <a:ext cx="2809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先解决路径，再做视觉细节。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  <a:p>
            <a:pPr algn="ctr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Fix path clarity before visual polish.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07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OPTIMIZATION PLAN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后续优化计划：先固化规则，再扩展导购系统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Optimization plan: define rules first, then scale guidance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建议用 7 天快速修复 + 30 天系统化 + 60-90 天实验迭代来推进。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Use a 7-day fix, 30-day system build, and 60-90 day experiment cycle.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333625"/>
            <a:ext cx="3000375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4B3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333625"/>
            <a:ext cx="3000375" cy="476250"/>
          </a:xfrm>
          <a:prstGeom prst="rect">
            <a:avLst/>
          </a:prstGeom>
          <a:solidFill>
            <a:srgbClr val="B84B3F"/>
          </a:solidFill>
          <a:ln w="0">
            <a:solidFill>
              <a:srgbClr val="B84B3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4765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0-7 天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24100" y="2438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降低风险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Reduce risk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028950"/>
            <a:ext cx="2381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统一促销文案；首页增加 Help Me Choose 高优先级 CTA；PDP 变体旁加选择说明。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Unify promos, promote Help Me Choose, add PDP choice help.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333625"/>
            <a:ext cx="3000375" cy="2381250"/>
          </a:xfrm>
          <a:prstGeom prst="rect">
            <a:avLst/>
          </a:prstGeom>
          <a:solidFill>
            <a:srgbClr val="F5F8E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333625"/>
            <a:ext cx="3000375" cy="47625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91050" y="24765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天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48350" y="2438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沉淀系统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system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48200" y="3028950"/>
            <a:ext cx="2381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建立 token 命名；定义商品卡片/PDP/导航/导购组件规范；补齐场景筛选。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Define tokens, component specs, and scenario filters.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05750" y="2333625"/>
            <a:ext cx="3000375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05750" y="2333625"/>
            <a:ext cx="3000375" cy="4762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15300" y="24765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60-90 天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372600" y="24384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验证增长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growth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72450" y="3028950"/>
            <a:ext cx="23812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A/B 测试首屏 CTA、场景筛选顺序、PDP 解释模块；追踪 CTR、PDP CVR、筛选使用率。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Test CTAs, filters, PDP explainers; track CTR, CVR, and filter usage.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5286375"/>
            <a:ext cx="93345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524000" y="535305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最终交付物 / Deliverables: Design tokens + Component specs + Guided commerce patterns + Experiment backlog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08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TWO TRACK SYSTEM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Design System 要同时服务两个角色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The system must serve two roles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设计师需要在 Figma 中快速复用，开发需要在 Shopify 主题中稳定落地；两条路线共享 token 和组件命名。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Designers reuse in Figma; developers implement in Shopify Theme. Both tracks share tokens and component names.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190750"/>
            <a:ext cx="4762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190750"/>
            <a:ext cx="4762500" cy="76200"/>
          </a:xfrm>
          <a:prstGeom prst="rect">
            <a:avLst/>
          </a:prstGeom>
          <a:solidFill>
            <a:srgbClr val="2F66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5717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Figma System</a:t>
            </a:r>
            <a:endParaRPr sz="1875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90975" y="2571750"/>
            <a:ext cx="11430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086225" y="2638425"/>
            <a:ext cx="95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给设计师用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23950" y="312420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95400" y="304800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用 Variables 固化颜色、字体、间距、圆角。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Use Variables for color, type, spacing, radius.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23950" y="367665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95400" y="360045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组件化 Header、Mega Menu、Product Card、PDP 选择器、Filter、CTA。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Componentize core retail UI.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23950" y="422910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5400" y="415290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沉淀 Homepage、Collection、PDP、Help Me Choose 页面模板。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Create reusable page templates.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123950" y="478155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295400" y="470535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每个组件写清 usage rule、状态和禁用场景。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Document usage rules, states, and limits.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96050" y="2190750"/>
            <a:ext cx="4762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96050" y="2190750"/>
            <a:ext cx="4762500" cy="76200"/>
          </a:xfrm>
          <a:prstGeom prst="rect">
            <a:avLst/>
          </a:prstGeom>
          <a:solidFill>
            <a:srgbClr val="A950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781800" y="25717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Engineering System</a:t>
            </a:r>
            <a:endParaRPr sz="1875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86925" y="2571750"/>
            <a:ext cx="1143000" cy="28575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82175" y="2638425"/>
            <a:ext cx="95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给开发落地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19900" y="312420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991350" y="304800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把 design tokens 转成 CSS variables / theme settings。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Convert tokens into theme variables.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819900" y="367665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991350" y="360045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抽 Liquid sections/snippets 和 JS 交互组件。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Extract Liquid and JS components.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6819900" y="422910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991350" y="415290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定义商品卡、促销、筛选、PDP 购买面板的数据接口。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Define data contracts for commerce UI.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6819900" y="478155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91350" y="4705350"/>
            <a:ext cx="3857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建立响应式、可访问性、视觉回归和转化路径 QA。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Add responsive, a11y, visual, and funnel QA.</a:t>
            </a:r>
            <a:endParaRPr sz="11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428750" y="5676900"/>
            <a:ext cx="8953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关键原则 / Key rule: Figma 和代码不要各做一套，必须共享 token、组件名称和状态定义。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  <a:p>
            <a:pPr algn="ctr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Figma and code must share tokens, component names, and state definitions.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09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SHOPIFY IMPLEMENTATION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工程化落地：优先按 Shopify Theme 路线推进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Implementation: prioritize the Shopify Theme layer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公开页面可见 /cdn/shop 路径、Shopify variant 数据和 inventory_management: shopify。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Public page signals point to Shopify Theme as the first implementation target.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2266950"/>
            <a:ext cx="3286125" cy="3286125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2266950"/>
            <a:ext cx="3286125" cy="45720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23622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实现路径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Path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33450" y="308610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0289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Tokens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CSS variables + theme settings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933450" y="360045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3543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Liquid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sections / snippets / blocks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33450" y="411480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40576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Commerce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ProductCard / PromoBanner / VariantSelector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933450" y="4629150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23950" y="45720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Behavior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mega menu / filters / sticky ATC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81500" y="2266950"/>
            <a:ext cx="3286125" cy="3286125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81500" y="2266950"/>
            <a:ext cx="3286125" cy="45720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610100" y="23622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主要困难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Challenges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667250" y="308610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57750" y="30289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历史主题样式分散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Legacy styles scattered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4667250" y="360045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57750" y="3543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依赖商品/促销/库存数据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Depends on product and promo data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4667250" y="411480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57750" y="40576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状态膨胀：折扣、缺图、长商品名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State explosion from real data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4667250" y="4629150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857750" y="45720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需补真实边界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needs edge cases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15300" y="2266950"/>
            <a:ext cx="3286125" cy="3286125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115300" y="2266950"/>
            <a:ext cx="3286125" cy="457200"/>
          </a:xfrm>
          <a:prstGeom prst="rect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343900" y="236220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所需资源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Resources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401050" y="3086100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591550" y="30289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Shopify theme 源码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Theme source access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401050" y="3600450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591550" y="3543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商品/促销/库存规则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Product, promo, stock rules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8401050" y="4114800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591550" y="405765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共同 token owner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Shared token ownership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8401050" y="4629150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591550" y="45720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截图回归 QA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Visual regression QA</a:t>
            </a:r>
            <a:endParaRPr sz="9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24000" y="5810250"/>
            <a:ext cx="91440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619250" y="5876925"/>
            <a:ext cx="895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交付模型 / Delivery model: Design tokens -&gt; Liquid components -&gt; Page patterns -&gt; QA and experiments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10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ACTION PLAN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Design System 怎么落地：先锁规则，再抽组件，再接 Shopify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How to land it: rules first, components next, then Shopify implementation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落地不要从全站改版开始，而是从 token、核心组件、导购数据和 QA 流程逐层推进。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Do not start with a full redesign. Build tokens, core components, guidance data, and QA step by step.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286000"/>
            <a:ext cx="24574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286000"/>
            <a:ext cx="2457450" cy="49530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428875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1</a:t>
            </a:r>
            <a:endParaRPr sz="12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237172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Foundation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基础规则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819150" y="3171825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31051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Variables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颜色、字体、间距、圆角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19150" y="3724275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365760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Shopify CSS variables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同步 token 命名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819150" y="4276725"/>
            <a:ext cx="66675" cy="6667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42100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Usage rules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明确颜色/字体职责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09950" y="2286000"/>
            <a:ext cx="24574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09950" y="2286000"/>
            <a:ext cx="2457450" cy="495300"/>
          </a:xfrm>
          <a:prstGeom prst="rect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619500" y="2428875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2</a:t>
            </a:r>
            <a:endParaRPr sz="12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14850" y="237172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Components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核心组件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3676650" y="3171825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848100" y="31051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Button / Badge / Price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先改低风险组件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3676650" y="3724275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848100" y="365760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ProductCard / Swatches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统一商品卡层级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3676650" y="4276725"/>
            <a:ext cx="66675" cy="6667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848100" y="42100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PromoBanner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统一促销口径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67450" y="2286000"/>
            <a:ext cx="24574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267450" y="2286000"/>
            <a:ext cx="2457450" cy="49530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477000" y="2428875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3</a:t>
            </a:r>
            <a:endParaRPr sz="12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372350" y="237172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Guided Commerce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导购能力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6534150" y="3171825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705600" y="31051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PDP Variant Explainer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高度/颜色/kit 解释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6534150" y="3724275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705600" y="365760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GuidanceTag / BestForTag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适合谁、适合什么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534150" y="4276725"/>
            <a:ext cx="66675" cy="6667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705600" y="42100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Help Me Choose CTA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进入首页/分类/PDP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124950" y="2286000"/>
            <a:ext cx="24574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8AA97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124950" y="2286000"/>
            <a:ext cx="2457450" cy="495300"/>
          </a:xfrm>
          <a:prstGeom prst="rect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34500" y="2428875"/>
            <a:ext cx="781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4</a:t>
            </a:r>
            <a:endParaRPr sz="12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229850" y="237172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QA + Experiment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验证上线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9391650" y="3171825"/>
            <a:ext cx="66675" cy="6667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563100" y="31051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Mobile + edge states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缺图、长标题、缺货、促销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9391650" y="3724275"/>
            <a:ext cx="66675" cy="6667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563100" y="365760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Visual regression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截图回归检查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9391650" y="4276725"/>
            <a:ext cx="66675" cy="6667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563100" y="4210050"/>
            <a:ext cx="1695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A/B plan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CTA、筛选、PDP解释模块</a:t>
            </a:r>
            <a:endParaRPr sz="90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285875" y="5600700"/>
            <a:ext cx="95250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381125" y="5667375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关键交付 / Key deliverables: tokens + Figma library + Shopify snippets/sections + metafields + QA checklist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11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WEEK 1 EXECUTION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Week 1 不是讨论周：目标是交付 Foundation v1 并进入组件建设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Week 1 is an execution sprint: ship Foundation v1, then move into components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把“设计师可用的 Figma 系统”和“开发可落地的 Shopify 系统”放在同一张节奏表里推进。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Run Figma and Shopify implementation in one operating rhythm.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076450"/>
            <a:ext cx="11049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23837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Sprint Goal / 本周目标</a:t>
            </a:r>
            <a:endParaRPr sz="112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71750" y="2181225"/>
            <a:ext cx="838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完成 color / typography / spacing / radius 基础 Token、Figma Variables 草案、Shopify CSS variables 草案、三层使用规则、Week 2 组件优先级。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8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Deliver base tokens, Figma variables, Shopify CSS variables, layer usage rules, and Week 2 component backlog.</a:t>
            </a:r>
            <a:endParaRPr sz="8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895600"/>
            <a:ext cx="723900" cy="5524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7180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90650" y="2895600"/>
            <a:ext cx="1009650" cy="5524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66850" y="2971800"/>
            <a:ext cx="85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52700" y="2895600"/>
            <a:ext cx="2647950" cy="5524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28900" y="2971800"/>
            <a:ext cx="2495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53050" y="2895600"/>
            <a:ext cx="2495550" cy="5524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429250" y="297180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20050" y="2895600"/>
            <a:ext cx="3048000" cy="5524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096250" y="29718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8650" y="3067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466850" y="306705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667000" y="30670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activities / 关键活动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467350" y="306705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Outputs / 当日产出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34350" y="3067050"/>
            <a:ext cx="2743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gate / 决策点</a:t>
            </a:r>
            <a:endParaRPr sz="7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3448050"/>
            <a:ext cx="723900" cy="552450"/>
          </a:xfrm>
          <a:prstGeom prst="rect">
            <a:avLst/>
          </a:prstGeom>
          <a:solidFill>
            <a:srgbClr val="F5F8E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352425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Day 1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06/15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390650" y="3448050"/>
            <a:ext cx="10096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466850" y="3524250"/>
            <a:ext cx="85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Audit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现状盘点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552700" y="3448050"/>
            <a:ext cx="26479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628900" y="3524250"/>
            <a:ext cx="2495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收集桌面/移动截图；盘点颜色、字体、按钮、badge、商品卡、导航、导购入口。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Capture key pages and audit color, type, button, badge, product card, nav, guidance entry.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353050" y="3448050"/>
            <a:ext cx="24955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429250" y="35242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UI inventory, color map, type map, component inventory, Top 10 inconsistency list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20050" y="3448050"/>
            <a:ext cx="304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096250" y="35242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确认范围只做 Foundation，不进入整站改版。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Keep scope at foundation, not full redesign.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4000500"/>
            <a:ext cx="723900" cy="552450"/>
          </a:xfrm>
          <a:prstGeom prst="rect">
            <a:avLst/>
          </a:prstGeom>
          <a:solidFill>
            <a:srgbClr val="F5F8E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28650" y="407670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Day 2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06/16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390650" y="4000500"/>
            <a:ext cx="10096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466850" y="4076700"/>
            <a:ext cx="85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Naming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规则命名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552700" y="4000500"/>
            <a:ext cx="26479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628900" y="4076700"/>
            <a:ext cx="2495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固化品牌层/交易层/导购层；定义 color/type/spacing/radius 命名和禁止混用规则。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Lock layer model and semantic token naming.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53050" y="4000500"/>
            <a:ext cx="24955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429250" y="407670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 naming table, color roles, type roles, usage rules draft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20050" y="4000500"/>
            <a:ext cx="304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096250" y="40767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确认唯一主 CTA 色、促销优先级、导购层边界。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Confirm CTA, promo priority, guidance scope.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52450" y="4552950"/>
            <a:ext cx="723900" cy="552450"/>
          </a:xfrm>
          <a:prstGeom prst="rect">
            <a:avLst/>
          </a:prstGeom>
          <a:solidFill>
            <a:srgbClr val="F5F8E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28650" y="462915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Day 3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06/17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390650" y="4552950"/>
            <a:ext cx="10096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466850" y="4629150"/>
            <a:ext cx="85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设计系统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552700" y="4552950"/>
            <a:ext cx="26479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628900" y="4629150"/>
            <a:ext cx="2495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建立 Figma Variables、Text Styles、基础样板页；检查中英文长文和移动端可读性。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Create variables, text styles, sample board, bilingual stress checks.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53050" y="4552950"/>
            <a:ext cx="24955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5429250" y="46291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Variables v1, Text Styles v1, Foundation sample board, designer usage rules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020050" y="4552950"/>
            <a:ext cx="304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096250" y="46291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设计师能否直接用变量搭页面。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Can designers use the variables directly?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52450" y="5105400"/>
            <a:ext cx="723900" cy="552450"/>
          </a:xfrm>
          <a:prstGeom prst="rect">
            <a:avLst/>
          </a:prstGeom>
          <a:solidFill>
            <a:srgbClr val="F5F8E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28650" y="518160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Day 4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06/18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390650" y="5105400"/>
            <a:ext cx="10096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466850" y="5181600"/>
            <a:ext cx="85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Shopify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工程验证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552700" y="5105400"/>
            <a:ext cx="26479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2628900" y="5181600"/>
            <a:ext cx="2495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定位 theme CSS/settings/sections/snippets；建立 CSS variables；在 Button/Badge/Price 做低风险 spike。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Map theme files, draft CSS variables, spike low-risk components.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353050" y="5105400"/>
            <a:ext cx="24955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5429250" y="518160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Theme style map, CSS token draft, spike PR/code draft, Shopify config plan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020050" y="5105400"/>
            <a:ext cx="304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096250" y="518160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确认哪些变量进入 theme settings，哪些保持代码控制。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Decide admin-configurable vs code-owned tokens.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52450" y="5657850"/>
            <a:ext cx="723900" cy="552450"/>
          </a:xfrm>
          <a:prstGeom prst="rect">
            <a:avLst/>
          </a:prstGeom>
          <a:solidFill>
            <a:srgbClr val="F5F8E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628650" y="573405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Day 5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06/19</a:t>
            </a:r>
            <a:endParaRPr sz="75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390650" y="5657850"/>
            <a:ext cx="10096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1466850" y="5734050"/>
            <a:ext cx="857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QA + Backlog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1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1513A"/>
                </a:solidFill>
                <a:latin typeface="Aptos"/>
                <a:ea typeface="Aptos"/>
                <a:cs typeface="Aptos"/>
              </a:rPr>
              <a:t>评审交付</a:t>
            </a:r>
            <a:endParaRPr sz="750" b="1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2552700" y="5657850"/>
            <a:ext cx="26479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2628900" y="5734050"/>
            <a:ext cx="2495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设计/开发评审；检查对比度、按钮状态、长文本、移动端；排序 Week 2 组件。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Review, QA, and prioritize component backlog.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353050" y="5657850"/>
            <a:ext cx="24955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5429250" y="57340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Foundation v1 spec, QA checklist, Week 2 component backlog, open questions list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020050" y="5657850"/>
            <a:ext cx="304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8096250" y="5734050"/>
            <a:ext cx="2895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Go / No-Go：Foundation v1 是否足够进入组件建设。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Is Foundation v1 ready for component build?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12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INPUTS NEEDED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Week 1 能不能跑起来，取决于这些输入能否在前两天到位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Week 1 depends on getting these inputs by Day 1-2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缺 Shopify 源码会卡工程验证；缺促销优先级会卡交易层规则；缺 Figma 权限会卡设计师侧落地。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Missing Shopify source blocks engineering; missing promo priority blocks commerce rules; missing Figma access blocks designer adoption.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228850"/>
            <a:ext cx="2571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228850"/>
            <a:ext cx="2571750" cy="4381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3431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/ Brand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业务与品牌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7622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Owner: PM / Brand / Ops</a:t>
            </a:r>
            <a:endParaRPr sz="7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742950" y="3133725"/>
            <a:ext cx="57150" cy="57150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306705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当前官网截图：Homepage、Collection、PDP、Help Me Choose、Campaign，桌面 + 移动端。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42950" y="3581400"/>
            <a:ext cx="57150" cy="57150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351472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品牌资料：logo、官方色值、字体规范、语气表达；没有则先从现站反推 v1。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42950" y="4029075"/>
            <a:ext cx="57150" cy="57150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39624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促销优先级：Father's Day、BOGO、Extra 10%、Free gift 哪些是长期规则。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742950" y="4476750"/>
            <a:ext cx="57150" cy="57150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目标市场和语言：确认中英文都要被设计系统覆盖。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52800" y="2228850"/>
            <a:ext cx="2571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52800" y="2228850"/>
            <a:ext cx="2571750" cy="438150"/>
          </a:xfrm>
          <a:prstGeom prst="rect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524250" y="23431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设计侧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524250" y="27622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Owner: Design Lead</a:t>
            </a:r>
            <a:endParaRPr sz="7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3543300" y="3133725"/>
            <a:ext cx="57150" cy="57150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695700" y="306705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当前 Figma 文件、组件库、页面模板；需要可编辑权限。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3543300" y="3581400"/>
            <a:ext cx="57150" cy="57150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695700" y="351472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设计师最常改的页面：Homepage、Collection、PDP、Campaign Landing。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3543300" y="4029075"/>
            <a:ext cx="57150" cy="57150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695700" y="39624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现有颜色、字体、按钮、商品卡、badge、导购模块的重复样式。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3543300" y="4476750"/>
            <a:ext cx="57150" cy="57150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69570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设计师希望在 Figma 中直接拖用的组件优先级和命名习惯。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153150" y="2228850"/>
            <a:ext cx="2571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153150" y="2228850"/>
            <a:ext cx="2571750" cy="43815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324600" y="23431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工程侧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24600" y="27622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Owner: Shopify / Frontend Dev</a:t>
            </a:r>
            <a:endParaRPr sz="7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343650" y="3133725"/>
            <a:ext cx="57150" cy="57150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96050" y="306705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Shopify theme source access：Dawn / custom / third-party 主题类型。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6343650" y="3581400"/>
            <a:ext cx="57150" cy="57150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96050" y="351472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CSS 入口：base.css、theme.css、component-*.css、section CSS。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椭圆 38"/>
          <p:cNvSpPr>
            <a:spLocks noGrp="1"/>
          </p:cNvSpPr>
          <p:nvPr/>
        </p:nvSpPr>
        <p:spPr>
          <a:xfrm>
            <a:off x="6343650" y="4029075"/>
            <a:ext cx="57150" cy="57150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96050" y="39624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settings_schema.json、settings_data.json：确认哪些 token 可以给运营配置。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6343650" y="4476750"/>
            <a:ext cx="57150" cy="57150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49605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sections / snippets / JS 行为清单：Button、Badge、Price、ProductCard、VariantPicker。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953500" y="2228850"/>
            <a:ext cx="25717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8AA97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53500" y="2228850"/>
            <a:ext cx="2571750" cy="438150"/>
          </a:xfrm>
          <a:prstGeom prst="rect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24950" y="23431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Ops / Data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运营与数据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124950" y="27622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Owner: Content / Ops</a:t>
            </a:r>
            <a:endParaRPr sz="7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9144000" y="3133725"/>
            <a:ext cx="57150" cy="57150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296400" y="306705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商品分类和商品状态：Sale、New arrival、Best seller、Out of stock。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9144000" y="3581400"/>
            <a:ext cx="57150" cy="57150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296400" y="351472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metafields / metaobjects 是否已使用；哪些字段运营可维护。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144000" y="4029075"/>
            <a:ext cx="57150" cy="57150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296400" y="39624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导购数据：适合谁、适合什么场景、尺寸/颜色/kit 解释。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9144000" y="4476750"/>
            <a:ext cx="57150" cy="57150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29640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上新/促销/缺货流程：哪些信息会频繁变化，不能写死在组件里。</a:t>
            </a:r>
            <a:endParaRPr sz="69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409700" y="5600700"/>
            <a:ext cx="939165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504950" y="5667375"/>
            <a:ext cx="920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Critical path / 关键路径：Shopify source access + Figma edit access + promo priority must be available before Day 3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13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DAY-BY-DAY PLAN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把 Week 1 拆成 5 个可交付工作日，每天都有产出和关口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Five delivery days, each with concrete outputs and a gate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这页可以直接用作项目每日 standup 的 agenda。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Use this as the daily standup agenda.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209800"/>
            <a:ext cx="20574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209800"/>
            <a:ext cx="2057400" cy="53340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3622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 1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3241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现状盘点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29527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Activities / 活动</a:t>
            </a:r>
            <a:endParaRPr sz="7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742950" y="3219450"/>
            <a:ext cx="47625" cy="4762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31432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Kickoff: scope + roles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42950" y="3524250"/>
            <a:ext cx="47625" cy="4762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4480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Capture desktop/mobile pages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742950" y="3829050"/>
            <a:ext cx="47625" cy="4762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37528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Map color + type usage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42950" y="4133850"/>
            <a:ext cx="47625" cy="47625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40576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Inventory Shopify-like components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4324350"/>
            <a:ext cx="17145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44767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Deliverables / 交付件</a:t>
            </a:r>
            <a:endParaRPr sz="7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4686300"/>
            <a:ext cx="1695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UI inventory; Color usage map; Typography usage map; Component inventory; Top 10 inconsistency list.</a:t>
            </a:r>
            <a:endParaRPr sz="6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52197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Gate: scope locked</a:t>
            </a:r>
            <a:endParaRPr sz="63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781300" y="2209800"/>
            <a:ext cx="20574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781300" y="2209800"/>
            <a:ext cx="2057400" cy="533400"/>
          </a:xfrm>
          <a:prstGeom prst="rect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952750" y="23622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 2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657600" y="23241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Token Naming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命名规则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952750" y="29527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Activities / 活动</a:t>
            </a:r>
            <a:endParaRPr sz="750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2971800" y="3219450"/>
            <a:ext cx="47625" cy="4762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086100" y="31432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Define 3-layer model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2971800" y="3524250"/>
            <a:ext cx="47625" cy="4762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086100" y="34480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Name color roles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2971800" y="3829050"/>
            <a:ext cx="47625" cy="4762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086100" y="37528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Name type roles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2971800" y="4133850"/>
            <a:ext cx="47625" cy="47625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086100" y="40576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Align Figma/CSS naming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952750" y="4324350"/>
            <a:ext cx="17145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952750" y="44767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Deliverables / 交付件</a:t>
            </a:r>
            <a:endParaRPr sz="750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952750" y="4686300"/>
            <a:ext cx="1695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 naming table; color role table; type role table; usage rule draft.</a:t>
            </a:r>
            <a:endParaRPr sz="6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952750" y="52197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Gate: CTA / promo / guidance boundaries confirmed</a:t>
            </a:r>
            <a:endParaRPr sz="63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010150" y="2209800"/>
            <a:ext cx="20574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010150" y="2209800"/>
            <a:ext cx="2057400" cy="53340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181600" y="23622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 3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886450" y="23241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Figma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设计基础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181600" y="29527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Activities / 活动</a:t>
            </a:r>
            <a:endParaRPr sz="75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5200650" y="3219450"/>
            <a:ext cx="47625" cy="4762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314950" y="31432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Create Figma Variables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5200650" y="3524250"/>
            <a:ext cx="47625" cy="4762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314950" y="34480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Create Text Styles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5200650" y="3829050"/>
            <a:ext cx="47625" cy="4762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314950" y="37528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Build foundation sample board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椭圆 51"/>
          <p:cNvSpPr>
            <a:spLocks noGrp="1"/>
          </p:cNvSpPr>
          <p:nvPr/>
        </p:nvSpPr>
        <p:spPr>
          <a:xfrm>
            <a:off x="5200650" y="4133850"/>
            <a:ext cx="47625" cy="47625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5314950" y="40576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Write designer do/don't rules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181600" y="4324350"/>
            <a:ext cx="17145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181600" y="44767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Deliverables / 交付件</a:t>
            </a:r>
            <a:endParaRPr sz="75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181600" y="4686300"/>
            <a:ext cx="1695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Variables v1; Text Styles v1; foundation board; usage examples.</a:t>
            </a:r>
            <a:endParaRPr sz="6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181600" y="52197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Gate: designers can apply variables without guessing</a:t>
            </a:r>
            <a:endParaRPr sz="63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239000" y="2209800"/>
            <a:ext cx="20574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A97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239000" y="2209800"/>
            <a:ext cx="2057400" cy="533400"/>
          </a:xfrm>
          <a:prstGeom prst="rect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410450" y="23622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 4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115300" y="23241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Shopify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工程验证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410450" y="29527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Activities / 活动</a:t>
            </a:r>
            <a:endParaRPr sz="750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7429500" y="3219450"/>
            <a:ext cx="47625" cy="4762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7543800" y="31432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Find theme CSS/settings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椭圆 64"/>
          <p:cNvSpPr>
            <a:spLocks noGrp="1"/>
          </p:cNvSpPr>
          <p:nvPr/>
        </p:nvSpPr>
        <p:spPr>
          <a:xfrm>
            <a:off x="7429500" y="3524250"/>
            <a:ext cx="47625" cy="4762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543800" y="34480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Draft CSS variables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椭圆 66"/>
          <p:cNvSpPr>
            <a:spLocks noGrp="1"/>
          </p:cNvSpPr>
          <p:nvPr/>
        </p:nvSpPr>
        <p:spPr>
          <a:xfrm>
            <a:off x="7429500" y="3829050"/>
            <a:ext cx="47625" cy="4762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543800" y="37528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Spike Button/Badge/Price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9" name="椭圆 68"/>
          <p:cNvSpPr>
            <a:spLocks noGrp="1"/>
          </p:cNvSpPr>
          <p:nvPr/>
        </p:nvSpPr>
        <p:spPr>
          <a:xfrm>
            <a:off x="7429500" y="4133850"/>
            <a:ext cx="47625" cy="47625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543800" y="40576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Define admin config path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410450" y="4324350"/>
            <a:ext cx="17145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7410450" y="44767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Deliverables / 交付件</a:t>
            </a:r>
            <a:endParaRPr sz="750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410450" y="4686300"/>
            <a:ext cx="1695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Theme style map; CSS token draft; spike PR/code draft; Shopify configuration plan.</a:t>
            </a:r>
            <a:endParaRPr sz="6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410450" y="52197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Gate: tokens work in 2-3 low-risk components</a:t>
            </a:r>
            <a:endParaRPr sz="63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467850" y="2209800"/>
            <a:ext cx="20574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FFAD4F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9467850" y="2209800"/>
            <a:ext cx="2057400" cy="533400"/>
          </a:xfrm>
          <a:prstGeom prst="rect">
            <a:avLst/>
          </a:prstGeom>
          <a:solidFill>
            <a:srgbClr val="FFAD4F"/>
          </a:solidFill>
          <a:ln w="0">
            <a:solidFill>
              <a:srgbClr val="FFAD4F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9639300" y="23622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 5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0344150" y="23241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QA + Backlog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评审交付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9639300" y="29527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AD4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AD4F"/>
                </a:solidFill>
                <a:latin typeface="Aptos"/>
                <a:ea typeface="Aptos"/>
                <a:cs typeface="Aptos"/>
              </a:rPr>
              <a:t>Activities / 活动</a:t>
            </a:r>
            <a:endParaRPr sz="750" b="1">
              <a:solidFill>
                <a:srgbClr val="FFAD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0" name="椭圆 79"/>
          <p:cNvSpPr>
            <a:spLocks noGrp="1"/>
          </p:cNvSpPr>
          <p:nvPr/>
        </p:nvSpPr>
        <p:spPr>
          <a:xfrm>
            <a:off x="9658350" y="3219450"/>
            <a:ext cx="47625" cy="47625"/>
          </a:xfrm>
          <a:prstGeom prst="ellipse">
            <a:avLst/>
          </a:prstGeom>
          <a:solidFill>
            <a:srgbClr val="FFAD4F"/>
          </a:solidFill>
          <a:ln w="0">
            <a:solidFill>
              <a:srgbClr val="FFAD4F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772650" y="31432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Design-dev review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2" name="椭圆 81"/>
          <p:cNvSpPr>
            <a:spLocks noGrp="1"/>
          </p:cNvSpPr>
          <p:nvPr/>
        </p:nvSpPr>
        <p:spPr>
          <a:xfrm>
            <a:off x="9658350" y="3524250"/>
            <a:ext cx="47625" cy="47625"/>
          </a:xfrm>
          <a:prstGeom prst="ellipse">
            <a:avLst/>
          </a:prstGeom>
          <a:solidFill>
            <a:srgbClr val="FFAD4F"/>
          </a:solidFill>
          <a:ln w="0">
            <a:solidFill>
              <a:srgbClr val="FFAD4F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772650" y="34480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Check contrast + mobile text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椭圆 83"/>
          <p:cNvSpPr>
            <a:spLocks noGrp="1"/>
          </p:cNvSpPr>
          <p:nvPr/>
        </p:nvSpPr>
        <p:spPr>
          <a:xfrm>
            <a:off x="9658350" y="3829050"/>
            <a:ext cx="47625" cy="47625"/>
          </a:xfrm>
          <a:prstGeom prst="ellipse">
            <a:avLst/>
          </a:prstGeom>
          <a:solidFill>
            <a:srgbClr val="FFAD4F"/>
          </a:solidFill>
          <a:ln w="0">
            <a:solidFill>
              <a:srgbClr val="FFAD4F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9772650" y="37528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Close/open decisions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6" name="椭圆 85"/>
          <p:cNvSpPr>
            <a:spLocks noGrp="1"/>
          </p:cNvSpPr>
          <p:nvPr/>
        </p:nvSpPr>
        <p:spPr>
          <a:xfrm>
            <a:off x="9658350" y="4133850"/>
            <a:ext cx="47625" cy="47625"/>
          </a:xfrm>
          <a:prstGeom prst="ellipse">
            <a:avLst/>
          </a:prstGeom>
          <a:solidFill>
            <a:srgbClr val="FFAD4F"/>
          </a:solidFill>
          <a:ln w="0">
            <a:solidFill>
              <a:srgbClr val="FFAD4F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9772650" y="40576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Prioritize Week 2 components</a:t>
            </a:r>
            <a:endParaRPr sz="63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639300" y="4324350"/>
            <a:ext cx="17145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639300" y="44767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AD4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AD4F"/>
                </a:solidFill>
                <a:latin typeface="Aptos"/>
                <a:ea typeface="Aptos"/>
                <a:cs typeface="Aptos"/>
              </a:rPr>
              <a:t>Deliverables / 交付件</a:t>
            </a:r>
            <a:endParaRPr sz="750" b="1">
              <a:solidFill>
                <a:srgbClr val="FFAD4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9639300" y="4686300"/>
            <a:ext cx="1695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Foundation v1 spec; QA checklist; Week 2 component backlog; open questions list.</a:t>
            </a:r>
            <a:endParaRPr sz="62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639300" y="52197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Gate: Go / No-Go for Week 2</a:t>
            </a:r>
            <a:endParaRPr sz="630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14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DESIGNER PATH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给设计师的目标：用 Figma 变量和组件把页面搭出来，而不是每次重画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Designer-facing goal: build with Figma variables and components, not one-off drawings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设计侧系统先解决选择成本：什么颜色、什么字体、什么间距、什么组件在什么场景使用。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The design system reduces choice cost: which color, type, spacing, and component belongs in each scenario.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133600"/>
            <a:ext cx="25527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133600"/>
            <a:ext cx="2552700" cy="38100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238375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Foundations / 基础变量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7241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Color variables</a:t>
            </a:r>
            <a:endParaRPr sz="72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8765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color/brand/default, color/commerce/cta, color/promo/sale, color/guidance/default, color/surface/page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31432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Type styles</a:t>
            </a:r>
            <a:endParaRPr sz="72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32956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type/display/campaign, type/commerce/title, type/commerce/price, type/utility/default, type/guidance/body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35623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Spacing + radius</a:t>
            </a:r>
            <a:endParaRPr sz="72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37147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4/8px spacing scale; radius/card; radius/control; border/default; focus/hover states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39814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Bilingual stress</a:t>
            </a:r>
            <a:endParaRPr sz="72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41338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中文、英文、长词、价格、促销标签、移动端按钮都要测试。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90900" y="2133600"/>
            <a:ext cx="25527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390900" y="2133600"/>
            <a:ext cx="2552700" cy="381000"/>
          </a:xfrm>
          <a:prstGeom prst="rect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43300" y="2238375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Components / 组件路径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543300" y="27241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Week 1 sample board</a:t>
            </a:r>
            <a:endParaRPr sz="720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543300" y="28765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先做样板，不急着做完整组件库；证明 token 可以被正确使用。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543300" y="31432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Week 2 core components</a:t>
            </a:r>
            <a:endParaRPr sz="720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43300" y="32956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Button, Badge, Price, ProductCard, SwatchGroup, PromoBanner.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543300" y="35623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Week 3 guidance family</a:t>
            </a:r>
            <a:endParaRPr sz="720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543300" y="37147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GuidanceCard, ScenarioFilter, BestForTag, ChoiceHelp, Help Me Choose CTA.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543300" y="39814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Variants</a:t>
            </a:r>
            <a:endParaRPr sz="720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43300" y="41338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状态至少包含 default, hover, active, disabled, sale, out-of-stock, mobile. 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29350" y="2133600"/>
            <a:ext cx="25527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29350" y="2133600"/>
            <a:ext cx="2552700" cy="38100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81750" y="2238375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Governance / 使用规则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381750" y="27241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3-layer discipline</a:t>
            </a:r>
            <a:endParaRPr sz="72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28765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Brand builds recognition; Commerce drives purchase; Guidance reduces choice anxiety.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81750" y="31432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Do / Don't examples</a:t>
            </a:r>
            <a:endParaRPr sz="72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381750" y="32956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Promo sale 不替代主 CTA；Guidance 色不做价格；Brand 色不做所有强调。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81750" y="35623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Naming sync</a:t>
            </a:r>
            <a:endParaRPr sz="72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381750" y="37147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variable 与 CSS variable 一一映射，避免设计/开发两套语言。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381750" y="39814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Review habit</a:t>
            </a:r>
            <a:endParaRPr sz="72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81750" y="41338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每个新模块必须说明使用的 token、组件、例外原因。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067800" y="2133600"/>
            <a:ext cx="25527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A97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067800" y="2133600"/>
            <a:ext cx="2552700" cy="381000"/>
          </a:xfrm>
          <a:prstGeom prst="rect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220200" y="2238375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Difficulties / 难点与资源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220200" y="27241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Hard parts</a:t>
            </a:r>
            <a:endParaRPr sz="720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220200" y="28765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历史页面样式分散；促销活动频繁；中英文长度差异；移动端按钮空间小。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220200" y="31432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Resources</a:t>
            </a:r>
            <a:endParaRPr sz="720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220200" y="32956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编辑权限；现有页面模板；品牌色/字体确认；设计负责人 0.5-1 天集中梳理。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220200" y="35623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Quality bar</a:t>
            </a:r>
            <a:endParaRPr sz="720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220200" y="37147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设计师不查文档也能选对颜色；组件拖入后默认就是正确层级。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220200" y="3981450"/>
            <a:ext cx="2247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1">
                <a:solidFill>
                  <a:srgbClr val="8AA970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8AA970"/>
                </a:solidFill>
                <a:latin typeface="Aptos"/>
                <a:ea typeface="Aptos"/>
                <a:cs typeface="Aptos"/>
              </a:rPr>
              <a:t>Week 1 output</a:t>
            </a:r>
            <a:endParaRPr sz="720" b="1">
              <a:solidFill>
                <a:srgbClr val="8AA9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220200" y="4133850"/>
            <a:ext cx="2247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Variables v1 + Text Styles v1 + Foundation sample board + usage rules.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219200" y="5638800"/>
            <a:ext cx="97536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314450" y="5705475"/>
            <a:ext cx="9563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Designer acceptance / 设计侧验收：能用 Figma 变量搭出 Homepage / Collection / PDP 关键模块，并且中英文不重叠。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15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SHOPIFY ENGINEERING PATH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工程化系统不是重写主题，而是把 Token 接进 Shopify 的组件边界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Engineering path: connect tokens into Shopify theme boundaries, not rewrite the theme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如果使用 Shopify 主题，落地方式应围绕 sections / snippets / theme settings / CSS variables 配合修改。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If VEGO is on Shopify, implementation should align with sections, snippets, theme settings, and CSS variables.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152650"/>
            <a:ext cx="25527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723900" y="2324100"/>
            <a:ext cx="323850" cy="323850"/>
          </a:xfrm>
          <a:prstGeom prst="ellipse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4003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9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2324100"/>
            <a:ext cx="1771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Theme discovery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主题结构定位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762250"/>
            <a:ext cx="21717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确认主题类型 Dawn / custom / third-party；定位 base.css、theme.css、component-*.css、section CSS、main-product、card-product、price、badge、swatches、product-form JS。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90900" y="2152650"/>
            <a:ext cx="25527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562350" y="2324100"/>
            <a:ext cx="323850" cy="323850"/>
          </a:xfrm>
          <a:prstGeom prst="ellipse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62350" y="24003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9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0" y="2324100"/>
            <a:ext cx="1771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Token layer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CSS 变量层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81400" y="2762250"/>
            <a:ext cx="21717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先建立 :root / theme scope 变量：--vego-color-brand, --vego-color-commerce-cta, --vego-color-promo-sale, --vego-color-guidance, --vego-radius-card, --vego-radius-control。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29350" y="2152650"/>
            <a:ext cx="25527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400800" y="2324100"/>
            <a:ext cx="323850" cy="323850"/>
          </a:xfrm>
          <a:prstGeom prst="ellipse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24003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9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38950" y="2324100"/>
            <a:ext cx="1771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Low-risk spike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低风险组件验证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2762250"/>
            <a:ext cx="21717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先接 Button / Badge / Price，不改布局、不动业务逻辑；只验证 token 引用、状态、移动端、促销场景是否稳定。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67800" y="2152650"/>
            <a:ext cx="25527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8AA970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9239250" y="2324100"/>
            <a:ext cx="323850" cy="323850"/>
          </a:xfrm>
          <a:prstGeom prst="ellipse">
            <a:avLst/>
          </a:prstGeom>
          <a:solidFill>
            <a:srgbClr val="8AA970"/>
          </a:solidFill>
          <a:ln w="0">
            <a:solidFill>
              <a:srgbClr val="8AA97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239250" y="2400300"/>
            <a:ext cx="323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9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677400" y="2324100"/>
            <a:ext cx="1771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Settings boundary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  <a:p>
            <a:pPr algn="l">
              <a:defRPr sz="97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后台配置边界</a:t>
            </a:r>
            <a:endParaRPr sz="975" b="1">
              <a:solidFill>
                <a:srgbClr val="1735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58300" y="2762250"/>
            <a:ext cx="21717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少量品牌/促销变量可进入 theme settings；核心层级、按钮角色、导购组件规则应由代码和组件约束，避免后台配置破坏系统。</a:t>
            </a:r>
            <a:endParaRPr sz="67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3943350"/>
            <a:ext cx="53340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41148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How Shopify components cooperate / Shopify 组件怎么配合修改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4438650"/>
            <a:ext cx="476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1. sections 负责页面区域：header、announcement、featured collection、main product、guided choice。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2. snippets 负责可复用 UI：button、price、badge、product-card、swatch、guidance-tag。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3. CSS variables 负责视觉 token：颜色、字体、间距、圆角、状态。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4. metafields/metaobjects 负责导购数据：适合谁、适合什么场景、推荐理由、变体解释。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0" y="3943350"/>
            <a:ext cx="53340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77000" y="41148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Engineering difficulties / 工程难点</a:t>
            </a:r>
            <a:endParaRPr sz="1050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77000" y="4438650"/>
            <a:ext cx="476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• 主题可能有第三方 app 样式覆盖，Token 不一定能完全控制。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• 老页面样式可能写在 section 或 inline setting 中，需要逐步迁移。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• Shopify 后台配置太多会让设计系统失控，太少会影响运营效率。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• ProductCard / PDP VariantSelector 牵涉转化链路，Week 1 只 spike，不大范围替换。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3950" y="5638800"/>
            <a:ext cx="99441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219200" y="5705475"/>
            <a:ext cx="9753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 acceptance / 工程侧验收：2-3 个低风险组件能通过 CSS variables 控制视觉，并保留 Shopify 运营配置边界。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16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TOKEN MAP + ACCEPTANCE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三层关系要被固化，是因为它直接决定购买、促销和导购的视觉优先级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The three layers must be fixed because they control purchase, promo, and guidance priority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Brand 建立识别，Commerce 推动交易，Guidance 降低选择成本；三者混用会让 CTA、促销、解释信息互相抢注意力。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Brand builds recognition, Commerce drives purchase, Guidance reduces choice anxiety; mixing them blurs priority.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095500"/>
            <a:ext cx="11049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2479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Why fixed layers / 为什么要固化三层</a:t>
            </a:r>
            <a:endParaRPr sz="9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781300" y="220980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如果促销色、购买按钮色、导购色都能随意互换，用户会不知道哪里是购买动作、哪里是优惠信息、哪里是选择帮助。固化三层后，设计师选变量、开发接组件、运营配置活动都沿着同一套优先级。</a:t>
            </a:r>
            <a:endParaRPr sz="76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When promo, purchase, and guidance colors are interchangeable, users lose the action hierarchy. Fixed layers let design, engineering, and ops work from one priority model.</a:t>
            </a:r>
            <a:endParaRPr sz="76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895600"/>
            <a:ext cx="1200150" cy="4762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6227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24050" y="28956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000250" y="296227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0" y="2895600"/>
            <a:ext cx="21526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76700" y="29622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24600" y="2895600"/>
            <a:ext cx="20193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00800" y="296227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15350" y="2895600"/>
            <a:ext cx="3086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91550" y="2962275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28650" y="3048000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 / 层</a:t>
            </a:r>
            <a:endParaRPr sz="6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00250" y="3048000"/>
            <a:ext cx="1752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Figma variable</a:t>
            </a:r>
            <a:endParaRPr sz="6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76700" y="3048000"/>
            <a:ext cx="2000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CSS variable</a:t>
            </a:r>
            <a:endParaRPr sz="6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3048000"/>
            <a:ext cx="1866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 use</a:t>
            </a:r>
            <a:endParaRPr sz="6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91550" y="3048000"/>
            <a:ext cx="2857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Forbidden use / 禁止混用</a:t>
            </a:r>
            <a:endParaRPr sz="6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3371850"/>
            <a:ext cx="1200150" cy="476250"/>
          </a:xfrm>
          <a:prstGeom prst="rect">
            <a:avLst/>
          </a:prstGeom>
          <a:solidFill>
            <a:srgbClr val="2F663B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343852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Brand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品牌层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924050" y="337185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000250" y="343852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color/brand/default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color/surface/page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000500" y="3371850"/>
            <a:ext cx="21526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076700" y="343852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--vego-color-brand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--vego-color-surface-page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324600" y="3371850"/>
            <a:ext cx="20193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00800" y="343852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Logo, nav, brand proof, campaign atmosphere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品牌识别、导航、品牌证明、页面氛围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15350" y="3371850"/>
            <a:ext cx="3086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91550" y="3438525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不要替代 Add to Cart；不要变成所有强调色。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 not replace purchase CTA or become every emphasis color.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3848100"/>
            <a:ext cx="1200150" cy="476250"/>
          </a:xfrm>
          <a:prstGeom prst="rect">
            <a:avLst/>
          </a:prstGeom>
          <a:solidFill>
            <a:srgbClr val="164D5D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28650" y="391477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Commerce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交易层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924050" y="38481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000250" y="391477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color/commerce/cta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color/commerce/price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00500" y="3848100"/>
            <a:ext cx="21526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076700" y="39147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--vego-color-commerce-cta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--vego-color-commerce-price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24600" y="3848100"/>
            <a:ext cx="20193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400800" y="391477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Add to Cart, Shop Now, price, purchase panel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购买按钮、价格、转化动作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15350" y="3848100"/>
            <a:ext cx="3086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591550" y="3914775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不要被 promo/sale 或 guidance/default 抢走主行动位置。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 not let promo or guidance override primary action.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52450" y="4324350"/>
            <a:ext cx="1200150" cy="476250"/>
          </a:xfrm>
          <a:prstGeom prst="rect">
            <a:avLst/>
          </a:prstGeom>
          <a:solidFill>
            <a:srgbClr val="A9502E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28650" y="439102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Promo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促销层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924050" y="432435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000250" y="439102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color/promo/sale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000500" y="4324350"/>
            <a:ext cx="21526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076700" y="439102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--vego-color-promo-sale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324600" y="4324350"/>
            <a:ext cx="20193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400800" y="439102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Discount badge, limited offer, campaign sale cue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折扣、限时活动、优惠提醒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15350" y="4324350"/>
            <a:ext cx="3086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591550" y="4391025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不要做主购买按钮默认色；不要和价格正文混为一体。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 not become primary CTA or generic price text.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52450" y="4800600"/>
            <a:ext cx="1200150" cy="476250"/>
          </a:xfrm>
          <a:prstGeom prst="rect">
            <a:avLst/>
          </a:prstGeom>
          <a:solidFill>
            <a:srgbClr val="8AA970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28650" y="4867275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Guidance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l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导购层</a:t>
            </a:r>
            <a:endParaRPr sz="64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924050" y="48006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2000250" y="4867275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color/guidance/default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type/guidance/body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4000500" y="4800600"/>
            <a:ext cx="21526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4076700" y="4867275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--vego-color-guidance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--vego-type-guidance-body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324600" y="4800600"/>
            <a:ext cx="20193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400800" y="486727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Help Me Choose, best-for tags, variant explainer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选择帮助、适合谁、变体解释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515350" y="4800600"/>
            <a:ext cx="30861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591550" y="4867275"/>
            <a:ext cx="2933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不要做交易主 CTA；不要伪装成促销信息。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64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 not act as purchase CTA or fake promo urgency.</a:t>
            </a:r>
            <a:endParaRPr sz="645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52450" y="5486400"/>
            <a:ext cx="11049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42950" y="56388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Acceptance criteria / Week 1 验收标准</a:t>
            </a:r>
            <a:endParaRPr sz="9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3143250" y="5610225"/>
            <a:ext cx="786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主购买按钮有唯一 commerce/cta；Promo badge 和 Add to Cart 不用同一 token；Help Me Choose 有独立 guidance 色；商品标题和 Campaign 标题使用不同 type style；Figma 与 Shopify token 一一映射；Week 2 组件 backlog 有优先级和理由。</a:t>
            </a:r>
            <a:endParaRPr sz="72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17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4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4D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4000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START NOW</a:t>
            </a:r>
            <a:endParaRPr sz="90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667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从今天开始按 tracker 推进：每日更新状态，周五做 Go / No-Go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Start now: update the tracker daily and run Go / No-Go on Friday</a:t>
            </a:r>
            <a:endParaRPr sz="2100" b="1">
              <a:solidFill>
                <a:srgbClr val="17351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19250"/>
            <a:ext cx="933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这不是一份静态建议，而是一套可以被 PM、设计、开发、运营共同跟踪的 Week 1 工作包。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  <a:p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This is not a static recommendation; it is a shared Week 1 execution pack.</a:t>
            </a:r>
            <a:endParaRPr sz="900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2114550"/>
            <a:ext cx="33337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2F663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114550"/>
            <a:ext cx="3333750" cy="3619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22193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RACI / 角色分工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6098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PM / Owner</a:t>
            </a:r>
            <a:endParaRPr sz="6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71650" y="26098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锁范围、促销优先级、评审节奏、Go/No-Go。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93370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Design Lead</a:t>
            </a:r>
            <a:endParaRPr sz="6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71650" y="29337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负责三层规则、Token spec、Figma foundation、设计验收。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32575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UX/UI Designer</a:t>
            </a:r>
            <a:endParaRPr sz="6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771650" y="32575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截图盘点、样板页、中英文与移动端压力测试。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358140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Shopify Dev</a:t>
            </a:r>
            <a:endParaRPr sz="6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71650" y="35814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主题结构、CSS token、组件 spike、theme settings 边界。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39052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Ops / Content</a:t>
            </a:r>
            <a:endParaRPr sz="675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771650" y="39052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商品状态、促销规则、导购字段、运营可维护边界。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29125" y="2114550"/>
            <a:ext cx="33337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164D5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29125" y="2114550"/>
            <a:ext cx="3333750" cy="361950"/>
          </a:xfrm>
          <a:prstGeom prst="rect">
            <a:avLst/>
          </a:prstGeom>
          <a:solidFill>
            <a:srgbClr val="164D5D"/>
          </a:solidFill>
          <a:ln w="0">
            <a:solidFill>
              <a:srgbClr val="164D5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581525" y="22193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Resources / 需要资源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81525" y="26098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Access</a:t>
            </a:r>
            <a:endParaRPr sz="675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48325" y="26098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编辑权限；Shopify theme source 或 staging access。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81525" y="293370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Time</a:t>
            </a:r>
            <a:endParaRPr sz="675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48325" y="29337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Design Lead 0.5-1 天集中梳理；Shopify Dev 0.5-1 天 spike。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81525" y="32575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Artifacts</a:t>
            </a:r>
            <a:endParaRPr sz="675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648325" y="32575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官网截图、品牌资料、促销规则、组件清单、主题文件路径。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81525" y="358140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Decision</a:t>
            </a:r>
            <a:endParaRPr sz="675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648325" y="35814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主 CTA 色、促销优先级、导购层范围、后台配置边界。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581525" y="39052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64D5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64D5D"/>
                </a:solidFill>
                <a:latin typeface="Aptos"/>
                <a:ea typeface="Aptos"/>
                <a:cs typeface="Aptos"/>
              </a:rPr>
              <a:t>QA</a:t>
            </a:r>
            <a:endParaRPr sz="675" b="1">
              <a:solidFill>
                <a:srgbClr val="164D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648325" y="39052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移动端、长文本、中英文、对比度、按钮状态检查时间。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05800" y="2114550"/>
            <a:ext cx="333375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A9502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05800" y="2114550"/>
            <a:ext cx="3333750" cy="361950"/>
          </a:xfrm>
          <a:prstGeom prst="rect">
            <a:avLst/>
          </a:prstGeom>
          <a:solidFill>
            <a:srgbClr val="A9502E"/>
          </a:solidFill>
          <a:ln w="0">
            <a:solidFill>
              <a:srgbClr val="A9502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58200" y="22193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Risks / 风险与应对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58200" y="26098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No source</a:t>
            </a:r>
            <a:endParaRPr sz="67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525000" y="26098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拿不到 Shopify 源码会卡工程验证；先要权限或 staging。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58200" y="293370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Promo unclear</a:t>
            </a:r>
            <a:endParaRPr sz="67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0" y="29337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促销优先级不清会导致交易层混乱；Day 2 必须决策。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458200" y="32575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Naming split</a:t>
            </a:r>
            <a:endParaRPr sz="67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525000" y="32575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Figma/CSS 命名分叉会提高维护成本；用 mapping table 管。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458200" y="358140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Scope creep</a:t>
            </a:r>
            <a:endParaRPr sz="67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525000" y="35814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Week 1 不做整站改版，只记录问题并进入 backlog。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58200" y="39052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Admin drift</a:t>
            </a:r>
            <a:endParaRPr sz="675" b="1">
              <a:solidFill>
                <a:srgbClr val="A950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525000" y="39052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后台配置过多会破坏系统；只暴露少量可控变量。</a:t>
            </a:r>
            <a:endParaRPr sz="64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52450" y="4533900"/>
            <a:ext cx="110871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C3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81050" y="47053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Tracking mechanism / 跟踪机制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952750" y="4676775"/>
            <a:ext cx="8096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已生成 Excel tracker：Dashboard 自动汇总任务状态；Week 1 Tracker 记录 23 个任务；Inputs Needed 追踪前置资料；Deliverables 追踪交付件；Token Mapping 作为 Figma/Shopify 唯一对照表；Risks &amp; Decisions 记录阻塞与决策。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  <a:p>
            <a:pPr algn="l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Excel tracker is the working control room: task status, inputs, deliverables, token mapping, risks, and decisions are updated daily.</a:t>
            </a:r>
            <a:endParaRPr sz="750" b="0">
              <a:solidFill>
                <a:srgbClr val="3151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314450" y="5638800"/>
            <a:ext cx="9563100" cy="285750"/>
          </a:xfrm>
          <a:prstGeom prst="rect">
            <a:avLst/>
          </a:prstGeom>
          <a:solidFill>
            <a:srgbClr val="2F663B"/>
          </a:solidFill>
          <a:ln w="0">
            <a:solidFill>
              <a:srgbClr val="2F663B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409700" y="5705475"/>
            <a:ext cx="937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Immediate next action / 立刻开始：PM 发起 30 分钟 kickoff，确认权限、页面范围、促销优先级、Day 1 截图负责人。</a:t>
            </a:r>
            <a:endParaRPr sz="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3400" y="6400800"/>
            <a:ext cx="8382000" cy="9525"/>
          </a:xfrm>
          <a:prstGeom prst="rect">
            <a:avLst/>
          </a:prstGeom>
          <a:solidFill>
            <a:srgbClr val="D9DE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533400" y="6515100"/>
            <a:ext cx="666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官网 Design System 现状与优化计划 | 2026-06-12</a:t>
            </a:r>
            <a:endParaRPr sz="675" b="0">
              <a:solidFill>
                <a:srgbClr val="687A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1096625" y="64770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18</a:t>
            </a:r>
            <a:endParaRPr sz="1050" b="1">
              <a:solidFill>
                <a:srgbClr val="2F663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20330</Words>
  <Application>WPS 演示</Application>
  <PresentationFormat>Converted Presentation</PresentationFormat>
  <Paragraphs>1106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Aptos</vt:lpstr>
      <vt:lpstr>Segoe UI</vt:lpstr>
      <vt:lpstr>Aptos Display</vt:lpstr>
      <vt:lpstr>Segoe UI Variable Display</vt:lpstr>
      <vt:lpstr>微软雅黑</vt:lpstr>
      <vt:lpstr>Arial Unicode MS</vt:lpstr>
      <vt:lpstr>Calibri</vt:lpstr>
      <vt:lpstr>Aptos</vt:lpstr>
      <vt:lpstr>Aptos Display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马马</cp:lastModifiedBy>
  <cp:revision>1</cp:revision>
  <dcterms:created xsi:type="dcterms:W3CDTF">2026-06-15T06:26:06Z</dcterms:created>
  <dcterms:modified xsi:type="dcterms:W3CDTF">2026-06-15T06:26:06Z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828CBC6D0D7D4167B1CBF4B6155F1FA1_12</vt:lpwstr>
  </property>
</Properties>
</file>